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Default Extension="jpg" ContentType="image/jpeg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4" Type="http://schemas.openxmlformats.org/officeDocument/2006/relationships/slide" Target="slides/slide14.xml" /><Relationship Id="rId13" Type="http://schemas.openxmlformats.org/officeDocument/2006/relationships/slide" Target="slides/slide13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6" Type="http://schemas.openxmlformats.org/officeDocument/2006/relationships/notesMaster" Target="notesMasters/notesMaster1.xml" /><Relationship Id="rId15" Type="http://schemas.openxmlformats.org/officeDocument/2006/relationships/slide" Target="slides/slide15.xml" /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3" Type="http://schemas.openxmlformats.org/officeDocument/2006/relationships/image" Target="media/image4.png" /><Relationship Id="rId2" Type="http://schemas.openxmlformats.org/officeDocument/2006/relationships/image" Target="media/image3.pn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7.xml.rels><?xml version="1.0" encoding="UTF-8" standalone="yes"?><Relationships xmlns="http://schemas.openxmlformats.org/package/2006/relationships"><Relationship Id="rId3" Type="http://schemas.openxmlformats.org/officeDocument/2006/relationships/image" Target="media/image9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png" /><Relationship Id="rId2" Type="http://schemas.openxmlformats.org/officeDocument/2006/relationships/image" Target="media/image8.pn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12.png" /><Relationship Id="rId1" Type="http://schemas.openxmlformats.org/officeDocument/2006/relationships/image" Target="media/image10.png" /><Relationship Id="rId2" Type="http://schemas.openxmlformats.org/officeDocument/2006/relationships/image" Target="media/image11.pn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png" /><Relationship Id="rId2" Type="http://schemas.openxmlformats.org/officeDocument/2006/relationships/image" Target="media/image14.png" /><Relationship Id="rId3" Type="http://schemas.openxmlformats.org/officeDocument/2006/relationships/image" Target="media/image15.jp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background: '#0B1020', padding: 60, justifyContent: 'space-between' }}&gt;&#10;    &lt;Box style={{ position: 'absolute', top: 0, right: 0, width: 520, height: 720, background: 'linear-gradient(225deg, #4F46E5 0%, transparent 70%)', opacity: 0.28 }} /&gt;&#10;    &lt;Box style={{ position: 'absolute', right: 90, top: 180, width: 240, height: 240, borderRadius: 120, background: 'linear-gradient(135deg, #22D3EE 0%, #4F46E5 100%)', opacity: 0.18 }} /&gt;&#10;&#10;    &lt;Box style={{ position: 'relative', zIndex: 2, flexDirection: 'row', alignItems: 'center', gap: 14 }}&gt;&#10;        &lt;Box style={{ width: 12, height: 12, borderRadius: 6, background: '#22D3EE' }} /&gt;&#10;        &lt;Text style={{ fontSize: 16, color: '#94A3B8', letterSpacing: 1 }}&gt;AI Application 比赛 · 赛道 B&lt;/Text&gt;&#10;    &lt;/Box&gt;&#10;&#10;    &lt;Box style={{ position: 'relative', zIndex: 2 }}&gt;&#10;        &lt;Text style={{ fontSize: 72, fontWeight: 'bold', color: '#FFFFFF', lineHeight: 1.15 }}&gt;个人工作台&lt;/Text&gt;&#10;        &lt;Box style={{ width: '100%', height: 1, background: 'rgba(34,211,238,0.5)', marginTop: 20 }} /&gt;&#10;        &lt;Text style={{ fontSize: 26, color: '#22D3EE', marginTop: 24, lineHeight: 1.45 }}&gt;&#10;            本地优先、离线可用的个人日程与知识库&#10;        &lt;/Text&gt;&#10;        &lt;Text style={{ fontSize: 20, color: '#94A3B8', marginTop: 14, lineHeight: 1.5 }}&gt;&#10;            AI 是可插拔的一层 —— 断开它，仍然是一个完整的工具&#10;        &lt;/Text&gt;&#10;    &lt;/Box&gt;&#10;&#10;    &lt;Box style={{ position: 'relative', zIndex: 2, flexDirection: 'row', alignItems: 'center', gap: 24 }}&gt;&#10;        &lt;Text style={{ fontSize: 14, color: '#64748B' }}&gt;github.com/wzsl07/personal-workspace&lt;/Text&gt;&#10;        &lt;Box style={{ width: 1, height: 14, background: '#334155' }} /&gt;&#10;        &lt;Text style={{ fontSize: 14, color: '#64748B' }}&gt;v0.2.0 · MIT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239000" y="0"/>
            <a:ext cx="4953000" cy="6858000"/>
          </a:xfrm>
          <a:prstGeom prst="rect">
            <a:avLst/>
          </a:prstGeom>
          <a:gradFill>
            <a:gsLst>
              <a:gs pos="0">
                <a:srgbClr val="4F46E5">
                  <a:alpha val="28000"/>
                </a:srgbClr>
              </a:gs>
              <a:gs pos="70000">
                <a:srgbClr val="FFFFFF">
                  <a:alpha val="0"/>
                </a:srgbClr>
              </a:gs>
            </a:gsLst>
            <a:lin ang="8100000" scaled="1"/>
          </a:gra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9048750" y="1714500"/>
            <a:ext cx="2286000" cy="2286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2D3EE">
                  <a:alpha val="18000"/>
                </a:srgbClr>
              </a:gs>
              <a:gs pos="100000">
                <a:srgbClr val="4F46E5">
                  <a:alpha val="18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571500" y="6096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19150" y="571500"/>
            <a:ext cx="2181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94A3B8"/>
                </a:solidFill>
                <a:latin typeface="Microsoft YaHei"/>
                <a:ea typeface="Microsoft YaHei"/>
              </a:rPr>
              <a:t xml:space="preserve">AI Application </a:t>
            </a:r>
            <a:r>
              <a:rPr lang="zh-CN" sz="1200" spc="75">
                <a:solidFill>
                  <a:srgbClr val="94A3B8"/>
                </a:solidFill>
                <a:latin typeface="Microsoft YaHei"/>
                <a:ea typeface="Microsoft YaHei"/>
              </a:rPr>
              <a:t>比赛</a:t>
            </a:r>
            <a:r>
              <a:rPr lang="en-US" sz="1200" spc="75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75">
                <a:solidFill>
                  <a:srgbClr val="94A3B8"/>
                </a:solidFill>
                <a:latin typeface="Microsoft YaHei"/>
                <a:ea typeface="Microsoft YaHei"/>
              </a:rPr>
              <a:t>赛道</a:t>
            </a:r>
            <a:r>
              <a:rPr lang="en-US" sz="1200" spc="75">
                <a:solidFill>
                  <a:srgbClr val="94A3B8"/>
                </a:solidFill>
                <a:latin typeface="Microsoft YaHei"/>
                <a:ea typeface="Microsoft YaHei"/>
              </a:rPr>
              <a:t xml:space="preserve"> B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571500" y="2295525"/>
            <a:ext cx="11049000" cy="9525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个人工作台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571500" y="3438525"/>
            <a:ext cx="11049000" cy="9525"/>
          </a:xfrm>
          <a:prstGeom prst="rect">
            <a:avLst/>
          </a:prstGeom>
          <a:solidFill>
            <a:srgbClr val="22D3EE">
              <a:alpha val="50000"/>
            </a:srgbClr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571500" y="3676650"/>
            <a:ext cx="11049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22D3EE"/>
                </a:solidFill>
                <a:latin typeface="Microsoft YaHei"/>
                <a:ea typeface="Microsoft YaHei"/>
              </a:rPr>
              <a:t>本地优先、离线可用的个人日程与知识库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571500" y="4248150"/>
            <a:ext cx="11049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是可插拔的一层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断开它，仍然是一个完整的工具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571500" y="6124575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github.com/wzsl07/personal-workspace</a:t>
            </a:r>
            <a:endParaRPr/>
          </a:p>
        </p:txBody>
      </p:sp>
      <p:sp>
        <p:nvSpPr>
          <p:cNvPr id="12" name=""/>
          <p:cNvSpPr/>
          <p:nvPr/>
        </p:nvSpPr>
        <p:spPr>
          <a:xfrm rot="0" flipH="0" flipV="0">
            <a:off x="3352800" y="6143625"/>
            <a:ext cx="9525" cy="13335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3590925" y="6124575"/>
            <a:ext cx="733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v0.2.0 · MIT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91" name="" descr="&lt;Slide style={{ background: '#0B1020', padding: 60 }}&gt;&#10;    &lt;Box style={{ flexDirection: 'row', justifyContent: 'space-between', alignItems: 'flex-end' }}&gt;&#10;        &lt;Text style={{ fontSize: 34, fontWeight: 'bold', color: '#FFFFFF' }}&gt;项目概述&lt;/Text&gt;&#10;        &lt;Text style={{ fontSize: 14, color: '#64748B' }}&gt;01 / 是什么&lt;/Text&gt;&#10;    &lt;/Box&gt;&#10;    &lt;Box style={{ width: '100%', height: 1, background: 'rgba(34,211,238,0.4)', marginTop: 14 }} /&gt;&#10;&#10;    &lt;Box style={{ flexDirection: 'row', gap: 40, marginTop: 28, height: 470 }}&gt;&#10;        &lt;Box style={{ width: 470, justifyContent: 'space-between' }}&gt;&#10;            &lt;Box&gt;&#10;                &lt;Text style={{ fontSize: 40, fontWeight: 'bold', color: '#FFFFFF', lineHeight: 1.3 }}&gt;&#10;                    把随手记的碎片&#10;                    &lt;br /&gt;&#10;                    变成&lt;span style={{ color: '#22D3EE' }}&gt;能找到&lt;/span&gt;的日程与知识&#10;                &lt;/Text&gt;&#10;                &lt;Text style={{ fontSize: 18, color: '#94A3B8', lineHeight: 1.6, marginTop: 20 }}&gt;&#10;                    它先把&quot;一段话&quot;变成结构化的日程条目，再让你用三种方式把它找回来；&#10;                    顺带把你常看的几个网站聚合成一条信息流，并且能按意思搜到正文。&#10;                &lt;/Text&gt;&#10;            &lt;/Box&gt;&#10;&#10;            &lt;Box style={{ gap: 14 }}&gt;&#10;                &lt;Box style={{ flexDirection: 'row', alignItems: 'center', gap: 12 }}&gt;&#10;                    &lt;Box style={{ width: 8, height: 8, borderRadius: 4, background: '#4F46E5' }} /&gt;&#10;                    &lt;Text style={{ fontSize: 18, color: '#E2E8F0' }}&gt;录入：一段自然语 → 结构化条目（可人工确认）&lt;/Text&gt;&#10;                &lt;/Box&gt;&#10;                &lt;Box style={{ flexDirection: 'row', alignItems: 'center', gap: 12 }}&gt;&#10;                    &lt;Box style={{ width: 8, height: 8, borderRadius: 4, background: '#22D3EE' }} /&gt;&#10;                    &lt;Text style={{ fontSize: 18, color: '#E2E8F0' }}&gt;检索：全文 / 语义 / 问答，三种都能搜信息流&lt;/Text&gt;&#10;                &lt;/Box&gt;&#10;                &lt;Box style={{ flexDirection: 'row', alignItems: 'center', gap: 12 }}&gt;&#10;                    &lt;Box style={{ width: 8, height: 8, borderRadius: 4, background: '#F0ABFC' }} /&gt;&#10;                    &lt;Text style={{ fontSize: 18, color: '#E2E8F0' }}&gt;形态：桌面 + 网页 + 手机 PWA，数据在你自己设备上&lt;/Text&gt;&#10;                &lt;/Box&gt;&#10;            &lt;/Box&gt;&#10;        &lt;/Box&gt;&#10;&#10;        &lt;Box style={{ width: 650, position: 'relative' }}&gt;&#10;            &lt;Image src=&quot;assets/today.png&quot; style={{ width: 400, height: 250, objectFit: 'cover', borderRadius: 8, border: '1px solid #334155' }} /&gt;&#10;            &lt;Image src=&quot;assets/calendar.png&quot; style={{ width: 300, height: 188, objectFit: 'cover', borderRadius: 8, border: '1px solid #334155', position: 'absolute', right: 0, top: 150 }} /&gt;&#10;            &lt;Image src=&quot;assets/graph.png&quot; style={{ width: 220, height: 138, objectFit: 'cover', borderRadius: 8, border: '1px solid #334155', position: 'absolute', left: 20, top: 300 }} /&gt;&#10;        &lt;/Box&gt;&#10;    &lt;/Box&gt;&#10;&#10;    &lt;Box style={{ flexDirection: 'row', alignItems: 'center', gap: 16, marginTop: 16, padding: 16, background: '#151B33', borderRadius: 8 }}&gt;&#10;        &lt;Text style={{ fontSize: 18, color: '#E2E8F0' }}&gt;&#10;            &lt;span style={{ color: '#22D3EE', fontWeight: 'bold' }}&gt;一句话&lt;/span&gt;&#10;            ：没有账号、没有服务器、默认不联网 —— AI 与同步都是你自己决定要不要开的开关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1295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0925175" y="800100"/>
            <a:ext cx="695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01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是什么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571500" y="1371600"/>
            <a:ext cx="4476750" cy="11906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把随手记的碎片</a:t>
            </a:r>
            <a:endParaRPr/>
          </a:p>
          <a:p>
            <a:pPr>
              <a:lnSpc>
                <a:spcPct val="130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变成</a:t>
            </a:r>
            <a:r>
              <a:rPr lang="zh-CN" sz="3000" b="1">
                <a:solidFill>
                  <a:srgbClr val="22D3EE"/>
                </a:solidFill>
                <a:latin typeface="Microsoft YaHei"/>
                <a:ea typeface="Microsoft YaHei"/>
              </a:rPr>
              <a:t>能找到</a:t>
            </a: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的日程与知识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571500" y="2752725"/>
            <a:ext cx="447675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它先把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一段话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变成结构化的日程条目，再让你用三种方式把它找回来；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顺带把你常看的几个网站聚合成一条信息流，并且能按意思搜到正文。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571500" y="50196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762000" y="4953000"/>
            <a:ext cx="3705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录入：一段自然语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结构化条目（可人工确认）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571500" y="53625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62000" y="5295900"/>
            <a:ext cx="3438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检索：全文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语义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问答，三种都能搜信息流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571500" y="57054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0ABFC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762000" y="5638800"/>
            <a:ext cx="4162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形态：桌面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网页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手机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PWA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，数据在你自己设备上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571500" y="6000750"/>
            <a:ext cx="11049000" cy="514350"/>
          </a:xfrm>
          <a:prstGeom prst="roundRect">
            <a:avLst>
              <a:gd name="adj" fmla="val 14815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723900" y="6153150"/>
            <a:ext cx="7210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一句话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：没有账号、没有服务器、默认不联网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AI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与同步都是你自己决定要不要开的开关。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5429250" y="1371600"/>
            <a:ext cx="3810000" cy="238125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207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5429250" y="1371600"/>
            <a:ext cx="3810000" cy="2381250"/>
          </a:xfrm>
          <a:prstGeom prst="roundRect">
            <a:avLst>
              <a:gd name="adj" fmla="val 3200"/>
            </a:avLst>
          </a:prstGeom>
          <a:ln/>
        </p:spPr>
      </p:pic>
      <p:sp>
        <p:nvSpPr>
          <p:cNvPr id="208" name=""/>
          <p:cNvSpPr/>
          <p:nvPr/>
        </p:nvSpPr>
        <p:spPr>
          <a:xfrm rot="0" flipH="0" flipV="0">
            <a:off x="8763000" y="2800350"/>
            <a:ext cx="2857500" cy="179070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209" name=""/>
          <p:cNvPicPr>
            <a:picLocks noChangeAspect="1"/>
          </p:cNvPicPr>
          <p:nvPr/>
        </p:nvPicPr>
        <p:blipFill>
          <a:blip r:embed="rId2"/>
          <a:srcRect l="132" t="0" r="132" b="0"/>
          <a:stretch>
            <a:fillRect/>
          </a:stretch>
        </p:blipFill>
        <p:spPr>
          <a:xfrm rot="0" flipH="0" flipV="0">
            <a:off x="8763000" y="2800350"/>
            <a:ext cx="2857500" cy="1790700"/>
          </a:xfrm>
          <a:prstGeom prst="roundRect">
            <a:avLst>
              <a:gd name="adj" fmla="val 4255"/>
            </a:avLst>
          </a:prstGeom>
          <a:ln/>
        </p:spPr>
      </p:pic>
      <p:sp>
        <p:nvSpPr>
          <p:cNvPr id="210" name=""/>
          <p:cNvSpPr/>
          <p:nvPr/>
        </p:nvSpPr>
        <p:spPr>
          <a:xfrm rot="0" flipH="0" flipV="0">
            <a:off x="5619750" y="4229100"/>
            <a:ext cx="2095500" cy="131445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211" name=""/>
          <p:cNvPicPr>
            <a:picLocks noChangeAspect="1"/>
          </p:cNvPicPr>
          <p:nvPr/>
        </p:nvPicPr>
        <p:blipFill>
          <a:blip r:embed="rId3"/>
          <a:srcRect l="181" t="0" r="181" b="0"/>
          <a:stretch>
            <a:fillRect/>
          </a:stretch>
        </p:blipFill>
        <p:spPr>
          <a:xfrm rot="0" flipH="0" flipV="0">
            <a:off x="5619750" y="4229100"/>
            <a:ext cx="2095500" cy="1314450"/>
          </a:xfrm>
          <a:prstGeom prst="roundRect">
            <a:avLst>
              <a:gd name="adj" fmla="val 5797"/>
            </a:avLst>
          </a:prstGeom>
          <a:ln/>
        </p:spPr>
      </p:pic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13" name="" descr="&lt;Slide style={{ background: '#0B1020', padding: 60 }}&gt;&#10;    &lt;Box style={{ flexDirection: 'row', justifyContent: 'space-between', alignItems: 'flex-end' }}&gt;&#10;        &lt;Text style={{ fontSize: 34, fontWeight: 'bold', color: '#FFFFFF' }}&gt;问题与目标&lt;/Text&gt;&#10;        &lt;Text style={{ fontSize: 14, color: '#64748B' }}&gt;02 / 为什么值得做&lt;/Text&gt;&#10;    &lt;/Box&gt;&#10;    &lt;Box style={{ width: '100%', height: 1, background: 'rgba(34,211,238,0.4)', marginTop: 14 }} /&gt;&#10;&#10;    &lt;Box style={{ flexDirection: 'row', gap: 32, marginTop: 26 }}&gt;&#10;        &lt;Box style={{ width: 340, padding: 22, background: '#151B33', borderRadius: 8 }}&gt;&#10;            &lt;Text style={{ fontSize: 24, fontWeight: 'bold', color: '#F0ABFC' }}&gt;真正的痛点&lt;/Text&gt;&#10;            &lt;Box style={{ gap: 14, marginTop: 18 }}&gt;&#10;                &lt;Text style={{ fontSize: 18, color: '#E2E8F0', lineHeight: 1.5 }}&gt;&#10;                    群里一条通知，要手动拆成&quot;几月几日、做什么、几点截止&quot;&#10;                &lt;/Text&gt;&#10;                &lt;Text style={{ fontSize: 18, color: '#E2E8F0', lineHeight: 1.5 }}&gt;&#10;                    记完之后找不到：只记得意思，关键词怎么都对不上&#10;                &lt;/Text&gt;&#10;                &lt;Text style={{ fontSize: 18, color: '#E2E8F0', lineHeight: 1.5 }}&gt;&#10;                    学院通知散在几个网站，得挨个打开才知道有没有更新&#10;                &lt;/Text&gt;&#10;            &lt;/Box&gt;&#10;        &lt;/Box&gt;&#10;&#10;        &lt;Box style={{ width: 380, padding: 22, background: '#151B33', borderRadius: 8 }}&gt;&#10;            &lt;Text style={{ fontSize: 24, fontWeight: 'bold', color: '#94A3B8' }}&gt;现有方式的缺口&lt;/Text&gt;&#10;            &lt;Box style={{ gap: 12, marginTop: 18 }}&gt;&#10;                &lt;Text style={{ fontSize: 18, color: '#E2E8F0', lineHeight: 1.5 }}&gt;&#10;                    &lt;span style={{ color: '#22D3EE' }}&gt;日历 / 待办&lt;/span&gt;：能存，但录入全靠手打&#10;                &lt;/Text&gt;&#10;                &lt;Text style={{ fontSize: 18, color: '#E2E8F0', lineHeight: 1.5 }}&gt;&#10;                    &lt;span style={{ color: '#22D3EE' }}&gt;笔记软件&lt;/span&gt;：能搜，但仍要自己整理&#10;                &lt;/Text&gt;&#10;                &lt;Text style={{ fontSize: 18, color: '#E2E8F0', lineHeight: 1.5 }}&gt;&#10;                    &lt;span style={{ color: '#22D3EE' }}&gt;通用 AI 助手&lt;/span&gt;：能理解，但落不了地 —— 它没有你的历史数据&#10;                &lt;/Text&gt;&#10;                &lt;Text style={{ fontSize: 18, color: '#E2E8F0', lineHeight: 1.5 }}&gt;&#10;                    &lt;span style={{ color: '#22D3EE' }}&gt;RSS 阅读器&lt;/span&gt;：只解决&quot;读&quot;，不解决&quot;变成待办&quot;&#10;                &lt;/Text&gt;&#10;            &lt;/Box&gt;&#10;        &lt;/Box&gt;&#10;&#10;        &lt;Box style={{ width: 380, padding: 22, background: 'linear-gradient(160deg, #4F46E5 0%, #151B33 100%)', borderRadius: 8 }}&gt;&#10;            &lt;Text style={{ fontSize: 24, fontWeight: 'bold', color: '#FFFFFF' }}&gt;成功标准（可验证）&lt;/Text&gt;&#10;            &lt;Box style={{ gap: 12, marginTop: 18 }}&gt;&#10;                &lt;Text style={{ fontSize: 18, color: '#E2E8F0', lineHeight: 1.5 }}&gt;&#10;                    ① 一段话 → 结构化条目，&lt;span style={{ color: '#F0ABFC' }}&gt;带时间与优先级&lt;/span&gt;&#10;                &lt;/Text&gt;&#10;                &lt;Text style={{ fontSize: 18, color: '#E2E8F0', lineHeight: 1.5 }}&gt;&#10;                    ② 只记得意思也能搜到，&lt;span style={{ color: '#F0ABFC' }}&gt;包括订阅正文&lt;/span&gt;&#10;                &lt;/Text&gt;&#10;                &lt;Text style={{ fontSize: 18, color: '#E2E8F0', lineHeight: 1.5 }}&gt;&#10;                    ③ 问一句就有答案 + &lt;span style={{ color: '#F0ABFC' }}&gt;引用来源&lt;/span&gt;可点开&#10;                &lt;/Text&gt;&#10;                &lt;Text style={{ fontSize: 18, color: '#E2E8F0', lineHeight: 1.5 }}&gt;&#10;                    ④ 断网 / 没 Key 时，&lt;span style={{ color: '#F0ABFC' }}&gt;核心功能仍可用&lt;/span&gt;&#10;                &lt;/Text&gt;&#10;            &lt;/Box&gt;&#10;        &lt;/Box&gt;&#10;    &lt;/Box&gt;&#10;&#10;    &lt;Box style={{ marginTop: 22, padding: 18, background: '#151B33', borderRadius: 8, borderLeft: '3px solid #22D3EE' }}&gt;&#10;        &lt;Text style={{ fontSize: 18, color: '#E2E8F0', lineHeight: 1.5 }}&gt;&#10;            &lt;span style={{ fontWeight: 'bold', color: '#22D3EE' }}&gt;要解决的不是&quot;记下来&quot;，而是&quot;理解 + 落地 + 找得到&quot;这一整条链&lt;/span&gt;&#10;            —— 现有工具各自只做到了其中一段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1619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问题与目标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0525125" y="800100"/>
            <a:ext cx="1095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02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为什么值得做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571500" y="1352550"/>
            <a:ext cx="3238500" cy="3076575"/>
          </a:xfrm>
          <a:prstGeom prst="roundRect">
            <a:avLst>
              <a:gd name="adj" fmla="val 2477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81050" y="1562100"/>
            <a:ext cx="2819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0ABFC"/>
                </a:solidFill>
                <a:latin typeface="Microsoft YaHei"/>
                <a:ea typeface="Microsoft YaHei"/>
              </a:rPr>
              <a:t>真正的痛点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781050" y="2009775"/>
            <a:ext cx="2819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群里一条通知，要手动拆成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几月几日、做什么、几点截止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781050" y="2762250"/>
            <a:ext cx="2819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记完之后找不到：只记得意思，关键词怎么都对不上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781050" y="3514725"/>
            <a:ext cx="2819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学院通知散在几个网站，得挨个打开才知道有没有更新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4105275" y="1352550"/>
            <a:ext cx="3619500" cy="3076575"/>
          </a:xfrm>
          <a:prstGeom prst="roundRect">
            <a:avLst>
              <a:gd name="adj" fmla="val 2477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314825" y="1562100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94A3B8"/>
                </a:solidFill>
                <a:latin typeface="Microsoft YaHei"/>
                <a:ea typeface="Microsoft YaHei"/>
              </a:rPr>
              <a:t>现有方式的缺口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314825" y="2009775"/>
            <a:ext cx="32004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日历</a:t>
            </a:r>
            <a:r>
              <a:rPr lang="en-US" sz="1350">
                <a:solidFill>
                  <a:srgbClr val="22D3E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待办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：能存，但录入全靠手打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314825" y="2438400"/>
            <a:ext cx="32004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笔记软件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：能搜，但仍要自己整理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4314825" y="2867025"/>
            <a:ext cx="3200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通用</a:t>
            </a:r>
            <a:r>
              <a:rPr lang="en-US" sz="1350">
                <a:solidFill>
                  <a:srgbClr val="22D3EE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助手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：能理解，但落不了地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它没有你的历史数据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4314825" y="3600450"/>
            <a:ext cx="3200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22D3EE"/>
                </a:solidFill>
                <a:latin typeface="Microsoft YaHei"/>
                <a:ea typeface="Microsoft YaHei"/>
              </a:rPr>
              <a:t xml:space="preserve">RSS </a:t>
            </a: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阅读器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：只解决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读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，不解决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变成待办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8010525" y="1352550"/>
            <a:ext cx="3619500" cy="3076575"/>
          </a:xfrm>
          <a:prstGeom prst="roundRect">
            <a:avLst>
              <a:gd name="adj" fmla="val 2477"/>
            </a:avLst>
          </a:prstGeom>
          <a:gradFill>
            <a:gsLst>
              <a:gs pos="0">
                <a:srgbClr val="4F46E5"/>
              </a:gs>
              <a:gs pos="100000">
                <a:srgbClr val="151B33"/>
              </a:gs>
            </a:gsLst>
            <a:lin ang="4200000" scaled="1"/>
          </a:gra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8220075" y="1562100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成功标准（可验证）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8220075" y="2009775"/>
            <a:ext cx="3200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一段话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结构化条目，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带时间与优先级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8220075" y="2743200"/>
            <a:ext cx="32004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只记得意思也能搜到，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包括订阅正文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8220075" y="3171825"/>
            <a:ext cx="32004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问一句就有答案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引用来源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可点开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8220075" y="3600450"/>
            <a:ext cx="32004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断网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Key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时，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核心功能仍可用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600075" y="4638675"/>
            <a:ext cx="11049000" cy="657225"/>
          </a:xfrm>
          <a:prstGeom prst="roundRect">
            <a:avLst>
              <a:gd name="adj" fmla="val 11594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36" name=""/>
          <p:cNvSpPr/>
          <p:nvPr/>
        </p:nvSpPr>
        <p:spPr>
          <a:xfrm rot="0" flipH="0" flipV="0">
            <a:off x="600075" y="4638675"/>
            <a:ext cx="11049000" cy="657225"/>
          </a:xfrm>
          <a:custGeom>
            <a:pathLst>
              <a:path w="1160" h="6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4"/>
                </a:lnTo>
                <a:cubicBezTo>
                  <a:pt x="3" y="66"/>
                  <a:pt x="5" y="68"/>
                  <a:pt x="7" y="69"/>
                </a:cubicBezTo>
                <a:cubicBezTo>
                  <a:pt x="3" y="68"/>
                  <a:pt x="0" y="65"/>
                  <a:pt x="0" y="6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771525" y="4810125"/>
            <a:ext cx="106775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要解决的不是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记下来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，而是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理解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落地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找得到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这一整条链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现有工具各自只做到了其中一段。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39" name="" descr="&lt;Slide style={{ background: '#0B1020', padding: 60 }}&gt;&#10;    &lt;Box style={{ flexDirection: 'row', justifyContent: 'space-between', alignItems: 'flex-end' }}&gt;&#10;        &lt;Text style={{ fontSize: 34, fontWeight: 'bold', color: '#FFFFFF' }}&gt;整体方案&lt;/Text&gt;&#10;        &lt;Text style={{ fontSize: 14, color: '#64748B' }}&gt;03 / 技术路线与选型&lt;/Text&gt;&#10;    &lt;/Box&gt;&#10;    &lt;Box style={{ width: '100%', height: 1, background: 'rgba(34,211,238,0.4)', marginTop: 14 }} /&gt;&#10;&#10;    &lt;Box style={{ flexDirection: 'row', gap: 28, marginTop: 24 }}&gt;&#10;        &lt;Box style={{ flex: 1, padding: 22, background: '#151B33', borderRadius: 8 }}&gt;&#10;            &lt;Text style={{ fontSize: 24, fontWeight: 'bold', color: '#22D3EE' }}&gt;技术路线&lt;/Text&gt;&#10;            &lt;Box style={{ gap: 10, marginTop: 16 }}&gt;&#10;                &lt;Text style={{ fontSize: 18, color: '#E2E8F0', lineHeight: 1.5 }}&gt;&#10;                    &lt;span style={{ fontWeight: 'bold' }}&gt;前端&lt;/span&gt;：React 18 + TypeScript + Vite，纯逻辑与副作用分层&#10;                &lt;/Text&gt;&#10;                &lt;Text style={{ fontSize: 18, color: '#E2E8F0', lineHeight: 1.5 }}&gt;&#10;                    &lt;span style={{ fontWeight: 'bold' }}&gt;存储&lt;/span&gt;：IndexedDB（Dexie）v1→v4 迁移 + SQLite（聚合侧）&#10;                &lt;/Text&gt;&#10;                &lt;Text style={{ fontSize: 18, color: '#E2E8F0', lineHeight: 1.5 }}&gt;&#10;                    &lt;span style={{ fontWeight: 'bold' }}&gt;AI&lt;/span&gt;：OpenAI 兼容协议，DeepSeek / Ollama / 自定义三选一&#10;                &lt;/Text&gt;&#10;                &lt;Text style={{ fontSize: 18, color: '#E2E8F0', lineHeight: 1.5 }}&gt;&#10;                    &lt;span style={{ fontWeight: 'bold' }}&gt;桌面壳&lt;/span&gt;：Tauri 2（Rust 484 行），只做 Web 做不到的&#10;                &lt;/Text&gt;&#10;                &lt;Text style={{ fontSize: 18, color: '#E2E8F0', lineHeight: 1.5 }}&gt;&#10;                    &lt;span style={{ fontWeight: 'bold' }}&gt;聚合服务&lt;/span&gt;：Python + FastAPI，常驻本机 127.0.0.1&#10;                &lt;/Text&gt;&#10;            &lt;/Box&gt;&#10;        &lt;/Box&gt;&#10;&#10;        &lt;Box style={{ flex: 1, padding: 22, background: '#151B33', borderRadius: 8 }}&gt;&#10;            &lt;Text style={{ fontSize: 24, fontWeight: 'bold', color: '#F0ABFC' }}&gt;为什么这么选&lt;/Text&gt;&#10;            &lt;Box style={{ gap: 10, marginTop: 16 }}&gt;&#10;                &lt;Text style={{ fontSize: 18, color: '#E2E8F0', lineHeight: 1.5 }}&gt;&#10;                    &lt;span style={{ fontWeight: 'bold', color: '#22D3EE' }}&gt;Tauri 而非 Electron&lt;/span&gt;：产物 27MB，Electron 通常 80MB+&#10;                &lt;/Text&gt;&#10;                &lt;Text style={{ fontSize: 18, color: '#E2E8F0', lineHeight: 1.5 }}&gt;&#10;                    &lt;span style={{ fontWeight: 'bold', color: '#22D3EE' }}&gt;OpenAI 兼容协议&lt;/span&gt;：换模型只改地址与模型名，云端/本地同一套代码&#10;                &lt;/Text&gt;&#10;                &lt;Text style={{ fontSize: 18, color: '#E2E8F0', lineHeight: 1.5 }}&gt;&#10;                    &lt;span style={{ fontWeight: 'bold', color: '#22D3EE' }}&gt;聚合独立成服务&lt;/span&gt;：浏览器关了也要继续抓；且多数站点不给 CORS&#10;                &lt;/Text&gt;&#10;                &lt;Text style={{ fontSize: 18, color: '#E2E8F0', lineHeight: 1.5 }}&gt;&#10;                    &lt;span style={{ fontWeight: 'bold', color: '#22D3EE' }}&gt;三套检索并存&lt;/span&gt;：快而准 / 按意思 / 会推理，各补一段&#10;                &lt;/Text&gt;&#10;                &lt;Text style={{ fontSize: 18, color: '#E2E8F0', lineHeight: 1.5 }}&gt;&#10;                    &lt;span style={{ fontWeight: 'bold', color: '#22D3EE' }}&gt;零外链&lt;/span&gt;：断网能打开，不依赖 CDN 存活&#10;                &lt;/Text&gt;&#10;            &lt;/Box&gt;&#10;        &lt;/Box&gt;&#10;    &lt;/Box&gt;&#10;&#10;    &lt;Box style={{ flexDirection: 'row', gap: 24, marginTop: 22 }}&gt;&#10;        &lt;Box style={{ flex: 2, padding: 18, background: 'linear-gradient(120deg, #4F46E5 0%, #151B33 100%)', borderRadius: 8 }}&gt;&#10;            &lt;Text style={{ fontSize: 18, color: '#FFFFFF', lineHeight: 1.5 }}&gt;&#10;                &lt;span style={{ fontWeight: 'bold', color: '#F0ABFC' }}&gt;关键取舍&lt;/span&gt;&#10;                ：把 AI 做成&quot;可断开的插件&quot; —— 断开了它仍是完整工具，接上了才帮你理解与检索。&#10;                代价是要为每一条云端能力都写一条本地降级路径。&#10;            &lt;/Text&gt;&#10;        &lt;/Box&gt;&#10;        &lt;Box style={{ flex: 1, padding: 18, background: '#151B33', borderRadius: 8 }}&gt;&#10;            &lt;Text style={{ fontSize: 44, fontWeight: 'bold', color: '#22D3EE' }}&gt;15,173&lt;/Text&gt;&#10;            &lt;Text style={{ fontSize: 16, color: '#94A3B8', marginTop: 6 }}&gt;行 TS/TSX + 484 行 Rust + 5,192 行 Python&lt;/Text&gt;&#10;        &lt;/Box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1295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整体方案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10391775" y="800100"/>
            <a:ext cx="1228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03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技术路线与选型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571500" y="1333500"/>
            <a:ext cx="5391150" cy="3105150"/>
          </a:xfrm>
          <a:prstGeom prst="roundRect">
            <a:avLst>
              <a:gd name="adj" fmla="val 2454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81050" y="1543050"/>
            <a:ext cx="49720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22D3EE"/>
                </a:solidFill>
                <a:latin typeface="Microsoft YaHei"/>
                <a:ea typeface="Microsoft YaHei"/>
              </a:rPr>
              <a:t>技术路线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81050" y="1971675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前端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React 18 + TypeScript + Vite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，纯逻辑与副作用分层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781050" y="2381250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存储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IndexedDB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Dexie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）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v1→v4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迁移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SQLite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（聚合侧）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781050" y="2790825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 b="1">
                <a:solidFill>
                  <a:srgbClr val="E2E8F0"/>
                </a:solidFill>
                <a:latin typeface="Microsoft YaHei"/>
                <a:ea typeface="Microsoft YaHei"/>
              </a:rPr>
              <a:t>AI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OpenAI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兼容协议，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DeepSeek / Ollama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自定义三选一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81050" y="3200400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桌面壳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Tauri 2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Rust 484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行），只做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做不到的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81050" y="3609975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聚合服务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Python + FastAPI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，常驻本机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127.0.0.1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6229350" y="1333500"/>
            <a:ext cx="5391150" cy="3105150"/>
          </a:xfrm>
          <a:prstGeom prst="roundRect">
            <a:avLst>
              <a:gd name="adj" fmla="val 2454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438900" y="1543050"/>
            <a:ext cx="49720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0ABFC"/>
                </a:solidFill>
                <a:latin typeface="Microsoft YaHei"/>
                <a:ea typeface="Microsoft YaHei"/>
              </a:rPr>
              <a:t>为什么这么选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438900" y="1971675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Tauri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而非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 Electron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：产物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27MB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Electron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通常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80MB+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438900" y="2381250"/>
            <a:ext cx="497205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OpenAI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兼容协议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：换模型只改地址与模型名，云端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本地同一套代码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438900" y="3095625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聚合独立成服务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：浏览器关了也要继续抓；且多数站点不给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CORS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438900" y="3505200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三套检索并存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：快而准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按意思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会推理，各补一段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438900" y="3914775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零外链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：断网能打开，不依赖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存活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571500" y="4648200"/>
            <a:ext cx="7210425" cy="1095375"/>
          </a:xfrm>
          <a:prstGeom prst="roundRect">
            <a:avLst>
              <a:gd name="adj" fmla="val 6957"/>
            </a:avLst>
          </a:prstGeom>
          <a:gradFill>
            <a:gsLst>
              <a:gs pos="0">
                <a:srgbClr val="4F46E5"/>
              </a:gs>
              <a:gs pos="100000">
                <a:srgbClr val="151B33"/>
              </a:gs>
            </a:gsLst>
            <a:lin ang="1800000" scaled="1"/>
          </a:gra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742950" y="4819650"/>
            <a:ext cx="686752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F0ABFC"/>
                </a:solidFill>
                <a:latin typeface="Microsoft YaHei"/>
                <a:ea typeface="Microsoft YaHei"/>
              </a:rPr>
              <a:t>关键取舍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：把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做成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可断开的插件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" ——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断开了它仍是完整工具，接上了才帮你理解与检索。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代价是要为每一条云端能力都写一条本地降级路径。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8010525" y="4648200"/>
            <a:ext cx="3609975" cy="1095375"/>
          </a:xfrm>
          <a:prstGeom prst="roundRect">
            <a:avLst>
              <a:gd name="adj" fmla="val 6957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8181975" y="4819650"/>
            <a:ext cx="3267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22D3EE"/>
                </a:solidFill>
                <a:latin typeface="Microsoft YaHei"/>
                <a:ea typeface="Microsoft YaHei"/>
              </a:rPr>
              <a:t>15,173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8181975" y="5381625"/>
            <a:ext cx="3267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TS/TSX + 484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Rust + 5,192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Python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64" name="" descr="&lt;Slide style={{ background: '#0B1020', padding: 60 }}&gt;&#10;    &lt;Box style={{ flexDirection: 'row', justifyContent: 'space-between', alignItems: 'flex-end' }}&gt;&#10;        &lt;Text style={{ fontSize: 34, fontWeight: 'bold', color: '#FFFFFF' }}&gt;核心实现 · Agent 三条链路&lt;/Text&gt;&#10;        &lt;Text style={{ fontSize: 14, color: '#64748B' }}&gt;04 / 规划 → 调工具 → 校验 → 落地&lt;/Text&gt;&#10;    &lt;/Box&gt;&#10;    &lt;Box style={{ width: '100%', height: 1, background: 'rgba(34,211,238,0.4)', marginTop: 14 }} /&gt;&#10;&#10;    &lt;Box style={{ marginTop: 18 }}&gt;&#10;        &lt;svg width={1160} height={400} viewBox='0 0 1160 400' fontFamily='Microsoft YaHei'&gt;&#10;            &lt;text x='0' y='22' fill='#94A3B8' fontSize='16'&gt;不是开放式 ReAct 循环，而是三条固定链路 —— 个人数据场景下，可预测比通用更重要&lt;/text&gt;&#10;&#10;            &lt;g&gt;&#10;                &lt;rect x='0' y='40' width='86' height='62' rx='8' fill='#4F46E5' /&gt;&#10;                &lt;text x='43' y='78' fill='#FFFFFF' fontSize='18' fontWeight='bold' textAnchor='middle'&gt;理解&lt;/text&gt;&#10;                &lt;rect x='100' y='40' width='190' height='62' rx='8' fill='#151B33' stroke='#334155' /&gt;&#10;                &lt;text x='195' y='70' fill='#E2E8F0' fontSize='17' textAnchor='middle'&gt;粘贴一段通知&lt;/text&gt;&#10;                &lt;text x='195' y='90' fill='#94A3B8' fontSize='14' textAnchor='middle'&gt;472 字班级群消息&lt;/text&gt;&#10;                &lt;path d='M298 71 L322 71' stroke='#475569' strokeWidth='2' /&gt;&#10;                &lt;path d='M316 65 L322 71 L316 77' fill='none' stroke='#475569' strokeWidth='2' /&gt;&#10;                &lt;rect x='330' y='40' width='190' height='62' rx='8' fill='#151B33' stroke='#4F46E5' /&gt;&#10;                &lt;text x='425' y='70' fill='#FFFFFF' fontSize='17' textAnchor='middle'&gt;模型输出 JSON&lt;/text&gt;&#10;                &lt;text x='425' y='90' fill='#94A3B8' fontSize='14' textAnchor='middle'&gt;类型/时间/优先级/置信度&lt;/text&gt;&#10;                &lt;path d='M528 71 L552 71' stroke='#475569' strokeWidth='2' /&gt;&#10;                &lt;path d='M546 65 L552 71 L546 77' fill='none' stroke='#475569' strokeWidth='2' /&gt;&#10;                &lt;rect x='560' y='40' width='190' height='62' rx='8' fill='#151B33' stroke='#334155' /&gt;&#10;                &lt;text x='655' y='70' fill='#E2E8F0' fontSize='17' textAnchor='middle'&gt;白名单校验 + 兜底&lt;/text&gt;&#10;                &lt;text x='655' y='90' fill='#94A3B8' fontSize='14' textAnchor='middle'&gt;失败→Ollama→本地规则&lt;/text&gt;&#10;                &lt;path d='M758 71 L782 71' stroke='#475569' strokeWidth='2' /&gt;&#10;                &lt;path d='M776 65 L782 71 L776 77' fill='none' stroke='#475569' strokeWidth='2' /&gt;&#10;                &lt;rect x='790' y='40' width='180' height='62' rx='8' fill='#151B33' stroke='#334155' /&gt;&#10;                &lt;text x='880' y='70' fill='#E2E8F0' fontSize='17' textAnchor='middle'&gt;草稿箱&lt;/text&gt;&#10;                &lt;text x='880' y='90' fill='#94A3B8' fontSize='14' textAnchor='middle'&gt;标黄 = 模型没把握&lt;/text&gt;&#10;                &lt;path d='M978 71 L1002 71' stroke='#475569' strokeWidth='2' /&gt;&#10;                &lt;path d='M996 65 L1002 71 L996 77' fill='none' stroke='#475569' strokeWidth='2' /&gt;&#10;                &lt;rect x='1010' y='40' width='150' height='62' rx='8' fill='#22D3EE' /&gt;&#10;                &lt;text x='1085' y='70' fill='#0B1020' fontSize='17' fontWeight='bold' textAnchor='middle'&gt;你确认才入库&lt;/text&gt;&#10;                &lt;text x='1085' y='90' fill='#0B1020' fontSize='14' textAnchor='middle'&gt;不会自作主张&lt;/text&gt;&#10;            &lt;/g&gt;&#10;&#10;            &lt;g&gt;&#10;                &lt;rect x='0' y='160' width='86' height='62' rx='8' fill='#22D3EE' /&gt;&#10;                &lt;text x='43' y='198' fill='#0B1020' fontSize='18' fontWeight='bold' textAnchor='middle'&gt;检索&lt;/text&gt;&#10;                &lt;rect x='100' y='160' width='190' height='62' rx='8' fill='#151B33' stroke='#334155' /&gt;&#10;                &lt;text x='195' y='190' fill='#E2E8F0' fontSize='17' textAnchor='middle'&gt;自然语言提问&lt;/text&gt;&#10;                &lt;text x='195' y='210' fill='#94A3B8' fontSize='14' textAnchor='middle'&gt;选课通知说了什么&lt;/text&gt;&#10;                &lt;path d='M298 191 L322 191' stroke='#475569' strokeWidth='2' /&gt;&#10;                &lt;path d='M316 185 L322 191 L316 197' fill='none' stroke='#475569' strokeWidth='2' /&gt;&#10;                &lt;rect x='330' y='160' width='190' height='62' rx='8' fill='#151B33' stroke='#22D3EE' /&gt;&#10;                &lt;text x='425' y='190' fill='#FFFFFF' fontSize='17' textAnchor='middle'&gt;模型规划查询条件&lt;/text&gt;&#10;                &lt;text x='425' y='210' fill='#94A3B8' fontSize='14' textAnchor='middle'&gt;scope / keyword / 时间&lt;/text&gt;&#10;                &lt;path d='M528 191 L552 191' stroke='#475569' strokeWidth='2' /&gt;&#10;                &lt;path d='M546 185 L552 191 L546 197' fill='none' stroke='#475569' strokeWidth='2' /&gt;&#10;                &lt;rect x='560' y='160' width='190' height='62' rx='8' fill='#151B33' stroke='#334155' /&gt;&#10;                &lt;text x='655' y='190' fill='#E2E8F0' fontSize='17' textAnchor='middle'&gt;本地执行检索&lt;/text&gt;&#10;                &lt;text x='655' y='210' fill='#94A3B8' fontSize='14' textAnchor='middle'&gt;结构化 + 全文 + 向量&lt;/text&gt;&#10;                &lt;path d='M758 191 L782 191' stroke='#475569' strokeWidth='2' /&gt;&#10;                &lt;path d='M776 185 L782 191 L776 197' fill='none' stroke='#475569' strokeWidth='2' /&gt;&#10;                &lt;rect x='790' y='160' width='180' height='62' rx='8' fill='#151B33' stroke='#334155' /&gt;&#10;                &lt;text x='880' y='190' fill='#E2E8F0' fontSize='17' textAnchor='middle'&gt;模型总结&lt;/text&gt;&#10;                &lt;text x='880' y='210' fill='#94A3B8' fontSize='14' textAnchor='middle'&gt;片段标注来源&lt;/text&gt;&#10;                &lt;path d='M978 191 L1002 191' stroke='#475569' strokeWidth='2' /&gt;&#10;                &lt;path d='M996 185 L1002 191 L996 197' fill='none' stroke='#475569' strokeWidth='2' /&gt;&#10;                &lt;rect x='1010' y='160' width='150' height='62' rx='8' fill='#F0ABFC' /&gt;&#10;                &lt;text x='1085' y='190' fill='#0B1020' fontSize='17' fontWeight='bold' textAnchor='middle'&gt;答案 + [1][2] 引用&lt;/text&gt;&#10;                &lt;text x='1085' y='210' fill='#0B1020' fontSize='14' textAnchor='middle'&gt;可点开核对&lt;/text&gt;&#10;            &lt;/g&gt;&#10;&#10;            &lt;g&gt;&#10;                &lt;rect x='0' y='280' width='86' height='62' rx='8' fill='#F0ABFC' /&gt;&#10;                &lt;text x='43' y='318' fill='#0B1020' fontSize='18' fontWeight='bold' textAnchor='middle'&gt;聚合&lt;/text&gt;&#10;                &lt;rect x='100' y='280' width='190' height='62' rx='8' fill='#151B33' stroke='#334155' /&gt;&#10;                &lt;text x='195' y='310' fill='#E2E8F0' fontSize='17' textAnchor='middle'&gt;定时触发&lt;/text&gt;&#10;                &lt;text x='195' y='330' fill='#94A3B8' fontSize='14' textAnchor='middle'&gt;并发 8 · 每域名 3s&lt;/text&gt;&#10;                &lt;path d='M298 311 L322 311' stroke='#475569' strokeWidth='2' /&gt;&#10;                &lt;path d='M316 305 L322 311 L316 317' fill='none' stroke='#475569' strokeWidth='2' /&gt;&#10;                &lt;rect x='330' y='280' width='190' height='62' rx='8' fill='#151B33' stroke='#334155' /&gt;&#10;                &lt;text x='425' y='310' fill='#E2E8F0' fontSize='17' textAnchor='middle'&gt;抓取（合规）&lt;/text&gt;&#10;                &lt;text x='425' y='330' fill='#94A3B8' fontSize='14' textAnchor='middle'&gt;robots · SSRF · 304&lt;/text&gt;&#10;                &lt;path d='M528 311 L552 311' stroke='#475569' strokeWidth='2' /&gt;&#10;                &lt;path d='M546 305 L552 311 L546 317' fill='none' stroke='#475569' strokeWidth='2' /&gt;&#10;                &lt;rect x='560' y='280' width='190' height='62' rx='8' fill='#151B33' stroke='#334155' /&gt;&#10;                &lt;text x='655' y='310' fill='#E2E8F0' fontSize='17' textAnchor='middle'&gt;解析去重&lt;/text&gt;&#10;                &lt;text x='655' y='330' fill='#94A3B8' fontSize='14' textAnchor='middle'&gt;guid/url/内容哈希&lt;/text&gt;&#10;                &lt;path d='M758 311 L782 311' stroke='#475569' strokeWidth='2' /&gt;&#10;                &lt;path d='M776 305 L782 311 L776 317' fill='none' stroke='#475569' strokeWidth='2' /&gt;&#10;                &lt;rect x='790' y='280' width='180' height='62' rx='8' fill='#151B33' stroke='#334155' /&gt;&#10;                &lt;text x='880' y='310' fill='#E2E8F0' fontSize='17' textAnchor='middle'&gt;存库 + 补正文&lt;/text&gt;&#10;                &lt;text x='880' y='330' fill='#94A3B8' fontSize='14' textAnchor='middle'&gt;→ 进搜索索引&lt;/text&gt;&#10;                &lt;path d='M978 311 L1002 311' stroke='#475569' strokeWidth='2' /&gt;&#10;                &lt;path d='M996 305 L1002 311 L996 317' fill='none' stroke='#475569' strokeWidth='2' /&gt;&#10;                &lt;rect x='1010' y='280' width='150' height='62' rx='8' fill='#151B33' stroke='#F0ABFC' /&gt;&#10;                &lt;text x='1085' y='310' fill='#E2E8F0' fontSize='17' textAnchor='middle'&gt;健康自检&lt;/text&gt;&#10;                &lt;text x='1085' y='330' fill='#94A3B8' fontSize='14' textAnchor='middle'&gt;退避 / 隔离可恢复&lt;/text&gt;&#10;            &lt;/g&gt;&#10;&#10;            &lt;path d='M1002 191 L1010 191' stroke='#475569' strokeWidth='2' /&gt;&#10;        &lt;/svg&gt;&#10;    &lt;/Box&gt;&#10;&#10;    &lt;Box style={{ marginTop: 8, padding: 16, background: '#151B33', borderRadius: 8, borderLeft: '3px solid #22D3EE' }}&gt;&#10;        &lt;Text style={{ fontSize: 18, color: '#E2E8F0', lineHeight: 1.5 }}&gt;&#10;            &lt;span style={{ fontWeight: 'bold', color: '#22D3EE' }}&gt;三条链路共用同一套机制&lt;/span&gt;&#10;            ：输出必须是 JSON → 白名单校验 → 字段兜底 → 失败降级；模型拿不到&quot;直接改你数据&quot;的权限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40195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核心实现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Agent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三条链路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9486900" y="800100"/>
            <a:ext cx="2133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04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规划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调工具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校验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pic>
        <p:nvPicPr>
          <p:cNvPr id="2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276350"/>
            <a:ext cx="11049000" cy="3810000"/>
          </a:xfrm>
          <a:prstGeom prst="rect">
            <a:avLst/>
          </a:prstGeom>
          <a:ln/>
        </p:spPr>
      </p:pic>
      <p:sp>
        <p:nvSpPr>
          <p:cNvPr id="270" name=""/>
          <p:cNvSpPr/>
          <p:nvPr/>
        </p:nvSpPr>
        <p:spPr>
          <a:xfrm rot="0" flipH="0" flipV="0">
            <a:off x="600075" y="5162550"/>
            <a:ext cx="11049000" cy="619125"/>
          </a:xfrm>
          <a:prstGeom prst="roundRect">
            <a:avLst>
              <a:gd name="adj" fmla="val 12308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71" name=""/>
          <p:cNvSpPr/>
          <p:nvPr/>
        </p:nvSpPr>
        <p:spPr>
          <a:xfrm rot="0" flipH="0" flipV="0">
            <a:off x="600075" y="5162550"/>
            <a:ext cx="11049000" cy="619125"/>
          </a:xfrm>
          <a:custGeom>
            <a:pathLst>
              <a:path w="1160" h="6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0"/>
                </a:lnTo>
                <a:cubicBezTo>
                  <a:pt x="3" y="62"/>
                  <a:pt x="5" y="64"/>
                  <a:pt x="7" y="65"/>
                </a:cubicBezTo>
                <a:cubicBezTo>
                  <a:pt x="3" y="64"/>
                  <a:pt x="0" y="61"/>
                  <a:pt x="0" y="5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52475" y="5314950"/>
            <a:ext cx="107156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三条链路共用同一套机制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：输出必须是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JSON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白名单校验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字段兜底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失败降级；模型拿不到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直接改你数据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的权限。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74" name="" descr="&lt;Slide style={{ background: '#0B1020', padding: 60 }}&gt;&#10;    &lt;Box style={{ flexDirection: 'row', justifyContent: 'space-between', alignItems: 'flex-end' }}&gt;&#10;        &lt;Text style={{ fontSize: 34, fontWeight: 'bold', color: '#FFFFFF' }}&gt;核心实现 · 系统架构&lt;/Text&gt;&#10;        &lt;Text style={{ fontSize: 14, color: '#64748B' }}&gt;05 / 为什么这么拆&lt;/Text&gt;&#10;    &lt;/Box&gt;&#10;    &lt;Box style={{ width: '100%', height: 1, background: 'rgba(34,211,238,0.4)', marginTop: 14 }} /&gt;&#10;&#10;    &lt;Box style={{ marginTop: 16 }}&gt;&#10;        &lt;svg width={1160} height={400} viewBox='0 0 1160 400' fontFamily='Microsoft YaHei'&gt;&#10;            &lt;rect x='0' y='8' width='360' height='132' rx='10' fill='#151B33' stroke='#334155' /&gt;&#10;            &lt;text x='20' y='38' fill='#22D3EE' fontSize='18' fontWeight='bold'&gt;界面层 · React 18&lt;/text&gt;&#10;            &lt;text x='20' y='64' fill='#E2E8F0' fontSize='15'&gt;今日 / 收集箱 / 草稿箱 / 日历 / 知识库&lt;/text&gt;&#10;            &lt;text x='20' y='88' fill='#E2E8F0' fontSize='15'&gt;搜索（三模式）/ 信息流 / 图谱 / 设置&lt;/text&gt;&#10;            &lt;text x='20' y='112' fill='#94A3B8' fontSize='14'&gt;79 个源文件 · 15,173 行 TS/TSX&lt;/text&gt;&#10;&#10;            &lt;rect x='400' y='8' width='360' height='132' rx='10' fill='#151B33' stroke='#4F46E5' /&gt;&#10;            &lt;text x='420' y='38' fill='#4F46E5' fontSize='18' fontWeight='bold'&gt;应用层 · src/core（与界面解耦）&lt;/text&gt;&#10;            &lt;text x='420' y='64' fill='#E2E8F0' fontSize='15'&gt;ai/ 编排 · search/ 检索 · repo/ 存储&lt;/text&gt;&#10;            &lt;text x='420' y='88' fill='#E2E8F0' fontSize='15'&gt;sync/ 同步 · aggregator/ 镜像 · domain/ 纯函数&lt;/text&gt;&#10;            &lt;text x='420' y='112' fill='#94A3B8' fontSize='14'&gt;capabilities.ts：每项能力带原因与修复入口&lt;/text&gt;&#10;&#10;            &lt;rect x='800' y='8' width='180' height='132' rx='10' fill='#151B33' stroke='#334155' /&gt;&#10;            &lt;text x='820' y='38' fill='#22D3EE' fontSize='18' fontWeight='bold'&gt;桌面壳 · Rust&lt;/text&gt;&#10;            &lt;text x='820' y='64' fill='#E2E8F0' fontSize='15'&gt;通知 / 文件对话框&lt;/text&gt;&#10;            &lt;text x='820' y='88' fill='#E2E8F0' fontSize='15'&gt;托盘 / 悬浮窗 / 快捷键&lt;/text&gt;&#10;            &lt;text x='820' y='112' fill='#94A3B8' fontSize='14'&gt;484 行，只做 Web 做不到的&lt;/text&gt;&#10;&#10;            &lt;rect x='1000' y='8' width='160' height='132' rx='10' fill='#151B33' stroke='#F0ABFC' strokeDasharray='5 4' /&gt;&#10;            &lt;text x='1020' y='38' fill='#F0ABFC' fontSize='18' fontWeight='bold'&gt;云端 AI（可选）&lt;/text&gt;&#10;            &lt;text x='1020' y='64' fill='#E2E8F0' fontSize='15'&gt;DeepSeek&lt;/text&gt;&#10;            &lt;text x='1020' y='88' fill='#E2E8F0' fontSize='15'&gt;Ollama · 自定义&lt;/text&gt;&#10;            &lt;text x='1020' y='112' fill='#94A3B8' fontSize='14'&gt;OpenAI 兼容协议&lt;/text&gt;&#10;&#10;            &lt;path d='M360 74 L394 74' stroke='#475569' strokeWidth='2' /&gt;&#10;            &lt;path d='M388 68 L394 74 L388 80' fill='none' stroke='#475569' strokeWidth='2' /&gt;&#10;            &lt;path d='M760 74 L794 74' stroke='#475569' strokeWidth='2' /&gt;&#10;            &lt;path d='M788 68 L794 74 L788 80' fill='none' stroke='#475569' strokeWidth='2' /&gt;&#10;            &lt;path d='M760 60 L1000 60' stroke='#F0ABFC' strokeWidth='2' strokeDasharray='5 4' /&gt;&#10;            &lt;text x='800' y='52' fill='#94A3B8' fontSize='13'&gt;可断开&lt;/text&gt;&#10;&#10;            &lt;rect x='0' y='190' width='270' height='120' rx='10' fill='#151B33' stroke='#334155' /&gt;&#10;            &lt;text x='20' y='220' fill='#22D3EE' fontSize='18' fontWeight='bold'&gt;本地 AI（离线）&lt;/text&gt;&#10;            &lt;text x='20' y='246' fill='#E2E8F0' fontSize='15'&gt;transformers.js + bge-small-zh&lt;/text&gt;&#10;            &lt;text x='20' y='270' fill='#E2E8F0' fontSize='15'&gt;tesseract.js OCR · 本地规则兜底&lt;/text&gt;&#10;            &lt;text x='20' y='294' fill='#94A3B8' fontSize='14'&gt;25MB 模型，数据不出进程&lt;/text&gt;&#10;&#10;            &lt;rect x='310' y='190' width='250' height='120' rx='10' fill='#151B33' stroke='#334155' /&gt;&#10;            &lt;text x='330' y='220' fill='#22D3EE' fontSize='18' fontWeight='bold'&gt;本地存储&lt;/text&gt;&#10;            &lt;text x='330' y='246' fill='#E2E8F0' fontSize='15'&gt;IndexedDB（Dexie v1→v4）&lt;/text&gt;&#10;            &lt;text x='330' y='270' fill='#E2E8F0' fontSize='15'&gt;OPFS 附件 · 向量索引 512 维&lt;/text&gt;&#10;            &lt;text x='330' y='294' fill='#94A3B8' fontSize='14'&gt;快照镜像：feedItems&lt;/text&gt;&#10;&#10;            &lt;rect x='600' y='190' width='300' height='120' rx='10' fill='#151B33' stroke='#4F46E5' /&gt;&#10;            &lt;text x='620' y='220' fill='#4F46E5' fontSize='18' fontWeight='bold'&gt;聚合服务 · Python 常驻&lt;/text&gt;&#10;            &lt;text x='620' y='246' fill='#E2E8F0' fontSize='15'&gt;调度器 → 抓取 → 解析 → 去重 → 存&lt;/text&gt;&#10;            &lt;text x='620' y='270' fill='#E2E8F0' fontSize='15'&gt;正文抓取（按域名限速）→ SQLite&lt;/text&gt;&#10;            &lt;text x='620' y='294' fill='#94A3B8' fontSize='14'&gt;仅监听 127.0.0.1:8787&lt;/text&gt;&#10;&#10;            &lt;rect x='940' y='190' width='220' height='120' rx='10' fill='#151B33' stroke='#334155' /&gt;&#10;            &lt;text x='960' y='220' fill='#22D3EE' fontSize='18' fontWeight='bold'&gt;同步（可选）&lt;/text&gt;&#10;            &lt;text x='960' y='246' fill='#E2E8F0' fontSize='15'&gt;GitHub 私有仓库&lt;/text&gt;&#10;            &lt;text x='960' y='270' fill='#E2E8F0' fontSize='15'&gt;本地文件夹 · WebDAV&lt;/text&gt;&#10;            &lt;text x='960' y='294' fill='#94A3B8' fontSize='14'&gt;三路合并，冲突不自动覆盖&lt;/text&gt;&#10;&#10;            &lt;path d='M580 74 L580 190' stroke='#475569' strokeWidth='2' /&gt;&#10;            &lt;path d='M135 140 L135 186' stroke='#475569' strokeWidth='2' /&gt;&#10;            &lt;path d='M435 140 L435 186' stroke='#475569' strokeWidth='2' /&gt;&#10;            &lt;path d='M580 250 L750 250' stroke='#4F46E5' strokeWidth='2' /&gt;&#10;            &lt;path d='M744 244 L750 250 L744 256' fill='none' stroke='#4F46E5' strokeWidth='2' /&gt;&#10;            &lt;text x='620' y='240' fill='#94A3B8' fontSize='13'&gt;本机 HTTP&lt;/text&gt;&#10;            &lt;path d='M890 74 L1050 186' stroke='#475569' strokeWidth='2' strokeDasharray='5 4' /&gt;&#10;&#10;            &lt;text x='0' y='352' fill='#94A3B8' fontSize='15'&gt;实线 = 默认路径　虚线 = 可选（断开后核心功能仍完整）　紫框 = 可独立部署的进程&lt;/text&gt;&#10;            &lt;text x='0' y='378' fill='#94A3B8' fontSize='15'&gt;聚合服务独立成进程的原因：浏览器关了也要继续抓；且多数站点不提供 CORS 头，前端直连必然失败&lt;/text&gt;&#10;        &lt;/svg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2933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核心实现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系统架构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0525125" y="800100"/>
            <a:ext cx="1095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05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为什么这么拆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pic>
        <p:nvPicPr>
          <p:cNvPr id="2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257300"/>
            <a:ext cx="11049000" cy="381000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81" name="" descr="&lt;Slide style={{ background: '#0B1020', padding: 60 }}&gt;&#13;&#10;    &lt;Box style={{ flexDirection: 'row', justifyContent: 'space-between', alignItems: 'flex-end' }}&gt;&#13;&#10;        &lt;Text style={{ fontSize: 34, fontWeight: 'bold', color: '#FFFFFF' }}&gt;结果与证据 · 一条通知走完全程&lt;/Text&gt;&#13;&#10;        &lt;Text style={{ fontSize: 14, color: '#64748B' }}&gt;06 / 端到端效果&lt;/Text&gt;&#13;&#10;    &lt;/Box&gt;&#13;&#10;    &lt;Box style={{ width: '100%', height: 1, background: 'rgba(34,211,238,0.4)', marginTop: 14 }} /&gt;&#13;&#10;&#13;&#10;    &lt;Box style={{ flexDirection: 'row', gap: 32, marginTop: 22 }}&gt;&#13;&#10;        &lt;Box style={{ width: 400 }}&gt;&#13;&#10;            &lt;Box style={{ flexDirection: 'row', alignItems: 'flex-end', gap: 12 }}&gt;&#13;&#10;                &lt;Text style={{ fontSize: 96, fontWeight: 'bold', color: '#F0ABFC', lineHeight: 1 }}&gt;9&lt;/Text&gt;&#13;&#10;                &lt;Text style={{ fontSize: 18, color: '#94A3B8', marginBottom: 14 }}&gt;条结构化草稿&lt;/Text&gt;&#13;&#10;            &lt;/Box&gt;&#13;&#10;            &lt;Text style={{ fontSize: 18, color: '#E2E8F0', lineHeight: 1.6, marginTop: 8 }}&gt;&#13;&#10;                从一段 &lt;span style={{ color: '#22D3EE', fontWeight: 'bold' }}&gt;472 字&lt;/span&gt;的班级群消息里解析出来，&#13;&#10;                每条都带类型、优先级、开始/截止、地点、标签。&#13;&#10;            &lt;/Text&gt;&#13;&#10;&#13;&#10;            &lt;Box style={{ gap: 14, marginTop: 22 }}&gt;&#13;&#10;                &lt;Box style={{ flexDirection: 'row', gap: 12 }}&gt;&#13;&#10;                    &lt;Box style={{ width: 28, height: 28, borderRadius: 14, background: '#4F46E5' }} /&gt;&#13;&#10;                    &lt;Text style={{ fontSize: 18, color: '#E2E8F0', lineHeight: 1.5, flex: 1 }}&gt;&#13;&#10;                        模型没把握的字段&lt;span style={{ color: '#F0ABFC' }}&gt;标黄&lt;/span&gt;，提醒你重点看这几处&#13;&#10;                    &lt;/Text&gt;&#13;&#10;                &lt;/Box&gt;&#13;&#10;                &lt;Box style={{ flexDirection: 'row', gap: 12 }}&gt;&#13;&#10;                    &lt;Box style={{ width: 28, height: 28, borderRadius: 14, background: '#22D3EE' }} /&gt;&#13;&#10;                    &lt;Text style={{ fontSize: 18, color: '#E2E8F0', lineHeight: 1.5, flex: 1 }}&gt;&#13;&#10;                        左原文右字段对照改，可&quot;丢弃 / 保存修改 / 确认并加入&quot;&#13;&#10;                    &lt;/Text&gt;&#13;&#10;                &lt;/Box&gt;&#13;&#10;                &lt;Box style={{ flexDirection: 'row', gap: 12 }}&gt;&#13;&#10;                    &lt;Box style={{ width: 28, height: 28, borderRadius: 14, background: '#F0ABFC' }} /&gt;&#13;&#10;                    &lt;Text style={{ fontSize: 18, color: '#E2E8F0', lineHeight: 1.5, flex: 1 }}&gt;&#13;&#10;                        不确认就不入库 —— AI 全程只写草稿箱&#13;&#10;                    &lt;/Text&gt;&#13;&#10;                &lt;/Box&gt;&#13;&#10;            &lt;/Box&gt;&#13;&#10;        &lt;/Box&gt;&#13;&#10;&#13;&#10;        &lt;Box style={{ width: 700 }}&gt;&#13;&#10;            &lt;Image src=&quot;assets/drafts.png&quot; style={{ width: 700, height: 300, objectFit: 'cover', borderRadius: 8, border: '1px solid #334155' }} /&gt;&#13;&#10;            &lt;Box style={{ flexDirection: 'row', gap: 16, marginTop: 12 }}&gt;&#13;&#10;                &lt;Image src=&quot;assets/inbox-input.png&quot; style={{ width: 340, height: 140, objectFit: 'cover', borderRadius: 8, border: '1px solid #334155' }} /&gt;&#13;&#10;                &lt;Image src=&quot;assets/inbox-item.png&quot; style={{ width: 340, height: 140, objectFit: 'cover', borderRadius: 8, border: '1px solid #334155' }} /&gt;&#13;&#10;            &lt;/Box&gt;&#13;&#10;        &lt;/Box&gt;&#13;&#10;    &lt;/Box&gt;&#13;&#10;&#13;&#10;    &lt;Box style={{ marginTop: 16, padding: 16, background: '#151B33', borderRadius: 8, borderLeft: '3px solid #22D3EE' }}&gt;&#13;&#10;        &lt;Text style={{ fontSize: 18, color: '#E2E8F0', lineHeight: 1.5 }}&gt;&#13;&#10;            &lt;span style={{ fontWeight: 'bold', color: '#22D3EE' }}&gt;价值&lt;/span&gt;&#13;&#10;            ：原本要手打 9 条日程、逐条填时间和地点，现在只需要粘贴 + 点确认 —— 而且不会漏掉&quot;面试要带简历&quot;这种藏在段落中间的截止点。&#13;&#10;        &lt;/Text&gt;&#13;&#10;    &lt;/Box&gt;&#13;&#10;&#13;&#10;    &lt;Text style={{ fontSize: 14, color: '#64748B', position: 'absolute', left: 60, top: 670 }}&gt;个人工作台 · v0.2.0&lt;/Text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45529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结果与证据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一条通知走完全程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10658475" y="800100"/>
            <a:ext cx="96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06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端到端效果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571500" y="1314450"/>
            <a:ext cx="5715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0ABFC"/>
                </a:solidFill>
                <a:latin typeface="Microsoft YaHei"/>
                <a:ea typeface="Microsoft YaHei"/>
              </a:rPr>
              <a:t>9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257300" y="2076450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条结构化草稿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71500" y="2495550"/>
            <a:ext cx="38100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从一段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472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字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的班级群消息里解析出来，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每条都带类型、优先级、开始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截止、地点、标签。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571500" y="3371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952500" y="3371850"/>
            <a:ext cx="34290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模型没把握的字段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标黄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，提醒你重点看这几处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571500" y="38195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952500" y="3819525"/>
            <a:ext cx="34290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左原文右字段对照改，可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丢弃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保存修改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确认并加入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571500" y="45720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0ABFC"/>
          </a:solidFill>
          <a:ln/>
        </p:spPr>
        <p:txBody>
          <a:bodyPr/>
          <a:p/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952500" y="4572000"/>
            <a:ext cx="34290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不确认就不入库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AI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全程只写草稿箱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4686300" y="1314450"/>
            <a:ext cx="6667500" cy="285750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296" name=""/>
          <p:cNvPicPr>
            <a:picLocks noChangeAspect="1"/>
          </p:cNvPicPr>
          <p:nvPr/>
        </p:nvPicPr>
        <p:blipFill>
          <a:blip r:embed="rId1"/>
          <a:srcRect l="0" t="12787" r="0" b="12787"/>
          <a:stretch>
            <a:fillRect/>
          </a:stretch>
        </p:blipFill>
        <p:spPr>
          <a:xfrm rot="0" flipH="0" flipV="0">
            <a:off x="4686300" y="1314450"/>
            <a:ext cx="6667500" cy="2857500"/>
          </a:xfrm>
          <a:prstGeom prst="roundRect">
            <a:avLst>
              <a:gd name="adj" fmla="val 2667"/>
            </a:avLst>
          </a:prstGeom>
          <a:ln/>
        </p:spPr>
      </p:pic>
      <p:sp>
        <p:nvSpPr>
          <p:cNvPr id="297" name=""/>
          <p:cNvSpPr/>
          <p:nvPr/>
        </p:nvSpPr>
        <p:spPr>
          <a:xfrm rot="0" flipH="0" flipV="0">
            <a:off x="4686300" y="4286250"/>
            <a:ext cx="3238500" cy="133350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298" name=""/>
          <p:cNvPicPr>
            <a:picLocks noChangeAspect="1"/>
          </p:cNvPicPr>
          <p:nvPr/>
        </p:nvPicPr>
        <p:blipFill>
          <a:blip r:embed="rId2"/>
          <a:srcRect l="0" t="20278" r="0" b="20278"/>
          <a:stretch>
            <a:fillRect/>
          </a:stretch>
        </p:blipFill>
        <p:spPr>
          <a:xfrm rot="0" flipH="0" flipV="0">
            <a:off x="4686300" y="4286250"/>
            <a:ext cx="3238500" cy="1333500"/>
          </a:xfrm>
          <a:prstGeom prst="roundRect">
            <a:avLst>
              <a:gd name="adj" fmla="val 5714"/>
            </a:avLst>
          </a:prstGeom>
          <a:ln/>
        </p:spPr>
      </p:pic>
      <p:sp>
        <p:nvSpPr>
          <p:cNvPr id="299" name=""/>
          <p:cNvSpPr/>
          <p:nvPr/>
        </p:nvSpPr>
        <p:spPr>
          <a:xfrm rot="0" flipH="0" flipV="0">
            <a:off x="8077200" y="4286250"/>
            <a:ext cx="3238500" cy="133350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00" name=""/>
          <p:cNvPicPr>
            <a:picLocks noChangeAspect="1"/>
          </p:cNvPicPr>
          <p:nvPr/>
        </p:nvPicPr>
        <p:blipFill>
          <a:blip r:embed="rId3"/>
          <a:srcRect l="0" t="19026" r="0" b="19026"/>
          <a:stretch>
            <a:fillRect/>
          </a:stretch>
        </p:blipFill>
        <p:spPr>
          <a:xfrm rot="0" flipH="0" flipV="0">
            <a:off x="8077200" y="4286250"/>
            <a:ext cx="3238500" cy="1333500"/>
          </a:xfrm>
          <a:prstGeom prst="roundRect">
            <a:avLst>
              <a:gd name="adj" fmla="val 5714"/>
            </a:avLst>
          </a:prstGeom>
          <a:ln/>
        </p:spPr>
      </p:pic>
      <p:sp>
        <p:nvSpPr>
          <p:cNvPr id="301" name=""/>
          <p:cNvSpPr/>
          <p:nvPr/>
        </p:nvSpPr>
        <p:spPr>
          <a:xfrm rot="0" flipH="0" flipV="0">
            <a:off x="600075" y="5772150"/>
            <a:ext cx="11049000" cy="619125"/>
          </a:xfrm>
          <a:prstGeom prst="roundRect">
            <a:avLst>
              <a:gd name="adj" fmla="val 12308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302" name=""/>
          <p:cNvSpPr/>
          <p:nvPr/>
        </p:nvSpPr>
        <p:spPr>
          <a:xfrm rot="0" flipH="0" flipV="0">
            <a:off x="600075" y="5772150"/>
            <a:ext cx="11049000" cy="619125"/>
          </a:xfrm>
          <a:custGeom>
            <a:pathLst>
              <a:path w="1160" h="6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0"/>
                </a:lnTo>
                <a:cubicBezTo>
                  <a:pt x="3" y="62"/>
                  <a:pt x="5" y="64"/>
                  <a:pt x="7" y="65"/>
                </a:cubicBezTo>
                <a:cubicBezTo>
                  <a:pt x="3" y="64"/>
                  <a:pt x="0" y="61"/>
                  <a:pt x="0" y="5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752475" y="5924550"/>
            <a:ext cx="107156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价值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：原本要手打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条日程、逐条填时间和地点，现在只需要粘贴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点确认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而且不会漏掉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面试要带简历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这种藏在段落中间的截止点。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05" name="" descr="&lt;Slide style={{ background: '#0B1020', padding: 60 }}&gt;&#10;    &lt;Box style={{ flexDirection: 'row', justifyContent: 'space-between', alignItems: 'flex-end' }}&gt;&#10;        &lt;Text style={{ fontSize: 34, fontWeight: 'bold', color: '#FFFFFF' }}&gt;结果与证据 · 三种检索，都能搜到信息流&lt;/Text&gt;&#10;        &lt;Text style={{ fontSize: 14, color: '#64748B' }}&gt;07 / 检索能力&lt;/Text&gt;&#10;    &lt;/Box&gt;&#10;    &lt;Box style={{ width: '100%', height: 1, background: 'rgba(34,211,238,0.4)', marginTop: 14 }} /&gt;&#10;&#10;    &lt;Box style={{ flexDirection: 'row', gap: 20, marginTop: 18 }}&gt;&#10;        &lt;Box style={{ flex: 1 }}&gt;&#10;            &lt;Text style={{ fontSize: 20, fontWeight: 'bold', color: '#22D3EE' }}&gt;全文&lt;/Text&gt;&#10;            &lt;Image src=&quot;assets/search-fulltext.png&quot; style={{ width: 373, height: 225, objectFit: 'cover', borderRadius: 8, border: '1px solid #334155', marginTop: 8 }} /&gt;&#10;        &lt;/Box&gt;&#10;        &lt;Box style={{ flex: 1 }}&gt;&#10;            &lt;Text style={{ fontSize: 20, fontWeight: 'bold', color: '#22D3EE' }}&gt;语义&lt;/Text&gt;&#10;            &lt;Image src=&quot;assets/semantic.png&quot; style={{ width: 373, height: 225, objectFit: 'cover', borderRadius: 8, border: '1px solid #334155', marginTop: 8 }} /&gt;&#10;        &lt;/Box&gt;&#10;        &lt;Box style={{ flex: 1 }}&gt;&#10;            &lt;Text style={{ fontSize: 20, fontWeight: 'bold', color: '#F0ABFC' }}&gt;问答（真实 Key）&lt;/Text&gt;&#10;            &lt;Image src=&quot;assets/search-ask-real.png&quot; style={{ width: 373, height: 225, objectFit: 'cover', borderRadius: 8, border: '1px solid #334155', marginTop: 8 }} /&gt;&#10;        &lt;/Box&gt;&#10;    &lt;/Box&gt;&#10;&#10;    &lt;Box style={{ marginTop: 16, padding: 16, background: '#151B33', borderRadius: 8 }}&gt;&#10;        &lt;Box style={{ flexDirection: 'row', gap: 24 }}&gt;&#10;            &lt;Box style={{ flex: 1 }}&gt;&#10;                &lt;Text style={{ fontSize: 18, color: '#E2E8F0', lineHeight: 1.5 }}&gt;&#10;                    &lt;span style={{ fontWeight: 'bold', color: '#22D3EE' }}&gt;全文&lt;/span&gt;：2-gram + 前缀 + 模糊；&#10;                    命中太少自动放宽为 OR。搜&quot;班费&quot;直中那条班级事务。&#10;                &lt;/Text&gt;&#10;            &lt;/Box&gt;&#10;            &lt;Box style={{ flex: 1 }}&gt;&#10;                &lt;Text style={{ fontSize: 18, color: '#E2E8F0', lineHeight: 1.5 }}&gt;&#10;                    &lt;span style={{ fontWeight: 'bold', color: '#22D3EE' }}&gt;语义&lt;/span&gt;：离线 512 维向量；&#10;                    搜&quot;新生入学要准备什么&quot;命中体检须知、选课通知，相似度 51%–56%。&#10;                &lt;/Text&gt;&#10;            &lt;/Box&gt;&#10;            &lt;Box style={{ flex: 1 }}&gt;&#10;                &lt;Text style={{ fontSize: 18, color: '#E2E8F0', lineHeight: 1.5 }}&gt;&#10;                    &lt;span style={{ fontWeight: 'bold', color: '#F0ABFC' }}&gt;问答&lt;/span&gt;：问&quot;选课通知说了什么&quot;&#10;                    → 直接命中 1 条 + 3 条引用，答案里带 [1][2] 可点开核对。&#10;                &lt;/Text&gt;&#10;            &lt;/Box&gt;&#10;        &lt;/Box&gt;&#10;    &lt;/Box&gt;&#10;&#10;    &lt;Box style={{ marginTop: 14, padding: 16, background: 'linear-gradient(120deg, #4F46E5 0%, #151B33 100%)', borderRadius: 8 }}&gt;&#10;        &lt;Text style={{ fontSize: 18, color: '#FFFFFF', lineHeight: 1.5 }}&gt;&#10;            &lt;span style={{ fontWeight: 'bold', color: '#F0ABFC' }}&gt;三者是上下游，不是替代&lt;/span&gt;&#10;            ：问答的召回质量取决于本地检索，而语义补的正是&quot;字面不同但意思相近&quot;这一段 —— 三种共用一套搜索范围（默认日程+笔记）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5848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结果与证据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三种检索，都能搜到信息流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10791825" y="800100"/>
            <a:ext cx="828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07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检索能力</a:t>
            </a:r>
            <a:endParaRPr/>
          </a:p>
        </p:txBody>
      </p:sp>
      <p:sp>
        <p:nvSpPr>
          <p:cNvPr id="309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71500" y="1276350"/>
            <a:ext cx="3552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D3EE"/>
                </a:solidFill>
                <a:latin typeface="Microsoft YaHei"/>
                <a:ea typeface="Microsoft YaHei"/>
              </a:rPr>
              <a:t>全文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571500" y="1581150"/>
            <a:ext cx="3552825" cy="2143125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12" name=""/>
          <p:cNvPicPr>
            <a:picLocks noChangeAspect="1"/>
          </p:cNvPicPr>
          <p:nvPr/>
        </p:nvPicPr>
        <p:blipFill>
          <a:blip r:embed="rId1"/>
          <a:srcRect l="0" t="1742" r="0" b="1742"/>
          <a:stretch>
            <a:fillRect/>
          </a:stretch>
        </p:blipFill>
        <p:spPr>
          <a:xfrm rot="0" flipH="0" flipV="0">
            <a:off x="571500" y="1581150"/>
            <a:ext cx="3552825" cy="2143125"/>
          </a:xfrm>
          <a:prstGeom prst="roundRect">
            <a:avLst>
              <a:gd name="adj" fmla="val 3556"/>
            </a:avLst>
          </a:prstGeom>
          <a:ln/>
        </p:spPr>
      </p:pic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4314825" y="1276350"/>
            <a:ext cx="3562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D3EE"/>
                </a:solidFill>
                <a:latin typeface="Microsoft YaHei"/>
                <a:ea typeface="Microsoft YaHei"/>
              </a:rPr>
              <a:t>语义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4314825" y="1581150"/>
            <a:ext cx="3552825" cy="2143125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15" name=""/>
          <p:cNvPicPr>
            <a:picLocks noChangeAspect="1"/>
          </p:cNvPicPr>
          <p:nvPr/>
        </p:nvPicPr>
        <p:blipFill>
          <a:blip r:embed="rId2"/>
          <a:srcRect l="0" t="1742" r="0" b="1742"/>
          <a:stretch>
            <a:fillRect/>
          </a:stretch>
        </p:blipFill>
        <p:spPr>
          <a:xfrm rot="0" flipH="0" flipV="0">
            <a:off x="4314825" y="1581150"/>
            <a:ext cx="3552825" cy="2143125"/>
          </a:xfrm>
          <a:prstGeom prst="roundRect">
            <a:avLst>
              <a:gd name="adj" fmla="val 3556"/>
            </a:avLst>
          </a:prstGeom>
          <a:ln/>
        </p:spPr>
      </p:pic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8067675" y="1276350"/>
            <a:ext cx="3552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0ABFC"/>
                </a:solidFill>
                <a:latin typeface="Microsoft YaHei"/>
                <a:ea typeface="Microsoft YaHei"/>
              </a:rPr>
              <a:t>问答（真实</a:t>
            </a:r>
            <a:r>
              <a:rPr lang="en-US" sz="1500" b="1">
                <a:solidFill>
                  <a:srgbClr val="F0ABFC"/>
                </a:solidFill>
                <a:latin typeface="Microsoft YaHei"/>
                <a:ea typeface="Microsoft YaHei"/>
              </a:rPr>
              <a:t xml:space="preserve"> Key</a:t>
            </a:r>
            <a:r>
              <a:rPr lang="zh-CN" sz="1500" b="1">
                <a:solidFill>
                  <a:srgbClr val="F0ABFC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8067675" y="1581150"/>
            <a:ext cx="3552825" cy="2143125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18" name=""/>
          <p:cNvPicPr>
            <a:picLocks noChangeAspect="1"/>
          </p:cNvPicPr>
          <p:nvPr/>
        </p:nvPicPr>
        <p:blipFill>
          <a:blip r:embed="rId3"/>
          <a:srcRect l="2334" t="0" r="2334" b="0"/>
          <a:stretch>
            <a:fillRect/>
          </a:stretch>
        </p:blipFill>
        <p:spPr>
          <a:xfrm rot="0" flipH="0" flipV="0">
            <a:off x="8067675" y="1581150"/>
            <a:ext cx="3552825" cy="2143125"/>
          </a:xfrm>
          <a:prstGeom prst="roundRect">
            <a:avLst>
              <a:gd name="adj" fmla="val 3556"/>
            </a:avLst>
          </a:prstGeom>
          <a:ln/>
        </p:spPr>
      </p:pic>
      <p:sp>
        <p:nvSpPr>
          <p:cNvPr id="319" name=""/>
          <p:cNvSpPr/>
          <p:nvPr/>
        </p:nvSpPr>
        <p:spPr>
          <a:xfrm rot="0" flipH="0" flipV="0">
            <a:off x="571500" y="3876675"/>
            <a:ext cx="11049000" cy="1238250"/>
          </a:xfrm>
          <a:prstGeom prst="roundRect">
            <a:avLst>
              <a:gd name="adj" fmla="val 6154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23900" y="4029075"/>
            <a:ext cx="34290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全文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2-gram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前缀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模糊；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命中太少自动放宽为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OR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。搜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班费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直中那条班级事务。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381500" y="4029075"/>
            <a:ext cx="34290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语义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：离线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512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维向量；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搜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新生入学要准备什么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命中体检须知、选课通知，相似度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51%–56%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8039100" y="4029075"/>
            <a:ext cx="34290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F0ABFC"/>
                </a:solidFill>
                <a:latin typeface="Microsoft YaHei"/>
                <a:ea typeface="Microsoft YaHei"/>
              </a:rPr>
              <a:t>问答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：问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选课通知说了什么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"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直接命中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+ 3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条引用，答案里带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[1][2]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可点开核对。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571500" y="5248275"/>
            <a:ext cx="11049000" cy="923925"/>
          </a:xfrm>
          <a:prstGeom prst="roundRect">
            <a:avLst>
              <a:gd name="adj" fmla="val 8247"/>
            </a:avLst>
          </a:prstGeom>
          <a:gradFill>
            <a:gsLst>
              <a:gs pos="0">
                <a:srgbClr val="4F46E5"/>
              </a:gs>
              <a:gs pos="100000">
                <a:srgbClr val="151B33"/>
              </a:gs>
            </a:gsLst>
            <a:lin ang="1800000" scaled="1"/>
          </a:gradFill>
          <a:ln/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723900" y="5400675"/>
            <a:ext cx="107442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F0ABFC"/>
                </a:solidFill>
                <a:latin typeface="Microsoft YaHei"/>
                <a:ea typeface="Microsoft YaHei"/>
              </a:rPr>
              <a:t>三者是上下游，不是替代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：问答的召回质量取决于本地检索，而语义补的正是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字面不同但意思相近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这一段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三种共用一套搜索范围（默认日程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+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笔记）。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26" name="" descr="&lt;Slide style={{ background: '#0B1020', padding: 60 }}&gt;&#10;    &lt;Box style={{ flexDirection: 'row', justifyContent: 'space-between', alignItems: 'flex-end' }}&gt;&#10;        &lt;Text style={{ fontSize: 34, fontWeight: 'bold', color: '#FFFFFF' }}&gt;结果与证据 · 信息流：抓得来，也搜得到正文&lt;/Text&gt;&#10;        &lt;Text style={{ fontSize: 14, color: '#64748B' }}&gt;08 / 聚合与正文入库&lt;/Text&gt;&#10;    &lt;/Box&gt;&#10;    &lt;Box style={{ width: '100%', height: 1, background: 'rgba(34,211,238,0.4)', marginTop: 14 }} /&gt;&#10;&#10;    &lt;Box style={{ flexDirection: 'row', gap: 32, marginTop: 18 }}&gt;&#10;        &lt;Box style={{ width: 340 }}&gt;&#10;            &lt;Box style={{ flexDirection: 'row', alignItems: 'flex-end', gap: 8 }}&gt;&#10;                &lt;Text style={{ fontSize: 96, fontWeight: 'bold', color: '#F0ABFC', lineHeight: 1 }}&gt;60&lt;/Text&gt;&#10;                &lt;Text style={{ fontSize: 22, color: '#94A3B8', marginBottom: 16 }}&gt;/ 75 条有正文&lt;/Text&gt;&#10;            &lt;/Box&gt;&#10;            &lt;Text style={{ fontSize: 18, color: '#E2E8F0', lineHeight: 1.6, marginTop: 10 }}&gt;&#10;                共 &lt;span style={{ color: '#22D3EE', fontWeight: 'bold' }}&gt;8.3 万字&lt;/span&gt;，&#10;                平均每条 1,447 字 —— 这些正文全部进了搜索索引。&#10;            &lt;/Text&gt;&#10;            &lt;Box style={{ gap: 12, marginTop: 20 }}&gt;&#10;                &lt;Text style={{ fontSize: 18, color: '#E2E8F0', lineHeight: 1.5 }}&gt;&#10;                    &lt;span style={{ color: '#22D3EE', fontWeight: 'bold' }}&gt;RSS 源零额外请求&lt;/span&gt;：直接取 feed 自带的全文字段&#10;                &lt;/Text&gt;&#10;                &lt;Text style={{ fontSize: 18, color: '#E2E8F0', lineHeight: 1.5 }}&gt;&#10;                    &lt;span style={{ color: '#22D3EE', fontWeight: 'bold' }}&gt;网页源限速抓详情&lt;/span&gt;：每域名 1.5 秒，62 条约 2 分钟&#10;                &lt;/Text&gt;&#10;                &lt;Text style={{ fontSize: 18, color: '#E2E8F0', lineHeight: 1.5 }}&gt;&#10;                    &lt;span style={{ color: '#94A3B8' }}&gt;没拿到的 15 条&lt;/span&gt;：13 条 robots 不允许 + 2 条 PDF 附件，标记为失败不重试&#10;                &lt;/Text&gt;&#10;            &lt;/Box&gt;&#10;        &lt;/Box&gt;&#10;&#10;        &lt;Box style={{ width: 740 }}&gt;&#10;            &lt;Image src=&quot;assets/feed-list.png&quot; style={{ width: 740, height: 300, objectFit: 'cover', borderRadius: 8, border: '1px solid #334155' }} /&gt;&#10;            &lt;Box style={{ flexDirection: 'row', gap: 16, marginTop: 12 }}&gt;&#10;                &lt;Image src=&quot;assets/feed-ai-summary.png&quot; style={{ width: 362, height: 135, objectFit: 'cover', borderRadius: 8, border: '1px solid #334155' }} /&gt;&#10;                &lt;Image src=&quot;assets/feed-article.jpg&quot; style={{ width: 362, height: 135, objectFit: 'cover', borderRadius: 8, border: '1px solid #334155' }} /&gt;&#10;            &lt;/Box&gt;&#10;        &lt;/Box&gt;&#10;    &lt;/Box&gt;&#10;&#10;    &lt;Box style={{ marginTop: 14, padding: 16, background: '#151B33', borderRadius: 8, borderLeft: '3px solid #22D3EE' }}&gt;&#10;        &lt;Text style={{ fontSize: 18, color: '#E2E8F0', lineHeight: 1.5 }}&gt;&#10;            &lt;span style={{ fontWeight: 'bold', color: '#22D3EE' }}&gt;闭环&lt;/span&gt;&#10;            ：定时抓取 → 按栏目归类 → 自动补正文 → 进索引 → 三种检索都能命中；&#10;            点标题就地出 AI 摘要，「显示原文」在抽屉里渲染清洗过的正文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6496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结果与证据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信息流：抓得来，也搜得到正文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391775" y="800100"/>
            <a:ext cx="1228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08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聚合与正文入库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571500" y="1276350"/>
            <a:ext cx="1133475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0ABFC"/>
                </a:solidFill>
                <a:latin typeface="Microsoft YaHei"/>
                <a:ea typeface="Microsoft YaHei"/>
              </a:rPr>
              <a:t>60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1781175" y="1971675"/>
            <a:ext cx="1304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/ 75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条有正文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571500" y="2476500"/>
            <a:ext cx="32385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共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8.3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万字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平均每条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1,447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字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这些正文全部进了搜索索引。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571500" y="3333750"/>
            <a:ext cx="32385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RSS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源零额外请求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：直接取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feed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自带的全文字段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571500" y="4067175"/>
            <a:ext cx="32385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网页源限速抓详情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：每域名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秒，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62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条约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571500" y="4800600"/>
            <a:ext cx="32385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没拿到的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条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13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robots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不允许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+ 2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PDF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附件，标记为失败不重试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4114800" y="1276350"/>
            <a:ext cx="7048500" cy="285750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38" name=""/>
          <p:cNvPicPr>
            <a:picLocks noChangeAspect="1"/>
          </p:cNvPicPr>
          <p:nvPr/>
        </p:nvPicPr>
        <p:blipFill>
          <a:blip r:embed="rId1"/>
          <a:srcRect l="0" t="15729" r="0" b="15729"/>
          <a:stretch>
            <a:fillRect/>
          </a:stretch>
        </p:blipFill>
        <p:spPr>
          <a:xfrm rot="0" flipH="0" flipV="0">
            <a:off x="4114800" y="1276350"/>
            <a:ext cx="7048500" cy="2857500"/>
          </a:xfrm>
          <a:prstGeom prst="roundRect">
            <a:avLst>
              <a:gd name="adj" fmla="val 2667"/>
            </a:avLst>
          </a:prstGeom>
          <a:ln/>
        </p:spPr>
      </p:pic>
      <p:sp>
        <p:nvSpPr>
          <p:cNvPr id="339" name=""/>
          <p:cNvSpPr/>
          <p:nvPr/>
        </p:nvSpPr>
        <p:spPr>
          <a:xfrm rot="0" flipH="0" flipV="0">
            <a:off x="4114800" y="4248150"/>
            <a:ext cx="3448050" cy="1285875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40" name=""/>
          <p:cNvPicPr>
            <a:picLocks noChangeAspect="1"/>
          </p:cNvPicPr>
          <p:nvPr/>
        </p:nvPicPr>
        <p:blipFill>
          <a:blip r:embed="rId2"/>
          <a:srcRect l="18762" t="0" r="18762" b="0"/>
          <a:stretch>
            <a:fillRect/>
          </a:stretch>
        </p:blipFill>
        <p:spPr>
          <a:xfrm rot="0" flipH="0" flipV="0">
            <a:off x="4114800" y="4248150"/>
            <a:ext cx="3448050" cy="1285875"/>
          </a:xfrm>
          <a:prstGeom prst="roundRect">
            <a:avLst>
              <a:gd name="adj" fmla="val 5926"/>
            </a:avLst>
          </a:prstGeom>
          <a:ln/>
        </p:spPr>
      </p:pic>
      <p:sp>
        <p:nvSpPr>
          <p:cNvPr id="341" name=""/>
          <p:cNvSpPr/>
          <p:nvPr/>
        </p:nvSpPr>
        <p:spPr>
          <a:xfrm rot="0" flipH="0" flipV="0">
            <a:off x="7715250" y="4248150"/>
            <a:ext cx="3448050" cy="1285875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42" name=""/>
          <p:cNvPicPr>
            <a:picLocks noChangeAspect="1"/>
          </p:cNvPicPr>
          <p:nvPr/>
        </p:nvPicPr>
        <p:blipFill>
          <a:blip r:embed="rId3"/>
          <a:srcRect l="0" t="22204" r="0" b="22204"/>
          <a:stretch>
            <a:fillRect/>
          </a:stretch>
        </p:blipFill>
        <p:spPr>
          <a:xfrm rot="0" flipH="0" flipV="0">
            <a:off x="7715250" y="4248150"/>
            <a:ext cx="3448050" cy="1285875"/>
          </a:xfrm>
          <a:prstGeom prst="roundRect">
            <a:avLst>
              <a:gd name="adj" fmla="val 5926"/>
            </a:avLst>
          </a:prstGeom>
          <a:ln/>
        </p:spPr>
      </p:pic>
      <p:sp>
        <p:nvSpPr>
          <p:cNvPr id="343" name=""/>
          <p:cNvSpPr/>
          <p:nvPr/>
        </p:nvSpPr>
        <p:spPr>
          <a:xfrm rot="0" flipH="0" flipV="0">
            <a:off x="600075" y="5667375"/>
            <a:ext cx="11049000" cy="923925"/>
          </a:xfrm>
          <a:prstGeom prst="roundRect">
            <a:avLst>
              <a:gd name="adj" fmla="val 8247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344" name=""/>
          <p:cNvSpPr/>
          <p:nvPr/>
        </p:nvSpPr>
        <p:spPr>
          <a:xfrm rot="0" flipH="0" flipV="0">
            <a:off x="600075" y="5667375"/>
            <a:ext cx="11049000" cy="923925"/>
          </a:xfrm>
          <a:custGeom>
            <a:pathLst>
              <a:path w="1160" h="97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92"/>
                </a:lnTo>
                <a:cubicBezTo>
                  <a:pt x="3" y="94"/>
                  <a:pt x="5" y="96"/>
                  <a:pt x="7" y="97"/>
                </a:cubicBezTo>
                <a:cubicBezTo>
                  <a:pt x="3" y="96"/>
                  <a:pt x="0" y="93"/>
                  <a:pt x="0" y="8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752475" y="5819775"/>
            <a:ext cx="1071562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闭环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：定时抓取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按栏目归类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自动补正文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进索引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三种检索都能命中；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点标题就地出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摘要，「显示原文」在抽屉里渲染清洗过的正文。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4" name="" descr="&lt;Slide style={{ background: '#0B1020', padding: 60 }}&gt;&#10;    &lt;Box style={{ flexDirection: 'row', justifyContent: 'space-between', alignItems: 'flex-end' }}&gt;&#10;        &lt;Text style={{ fontSize: 34, fontWeight: 'bold', color: '#FFFFFF' }}&gt;工程化设计 · 可复现&lt;/Text&gt;&#10;        &lt;Text style={{ fontSize: 14, color: '#64748B' }}&gt;09 / 别人也能跑起来&lt;/Text&gt;&#10;    &lt;/Box&gt;&#10;    &lt;Box style={{ width: '100%', height: 1, background: 'rgba(34,211,238,0.4)', marginTop: 14 }} /&gt;&#10;&#10;    &lt;Box style={{ flexDirection: 'row', gap: 28, marginTop: 20 }}&gt;&#10;        &lt;Box style={{ width: 300 }}&gt;&#10;            &lt;Box style={{ padding: 20, background: 'linear-gradient(160deg, #4F46E5 0%, #151B33 100%)', borderRadius: 8 }}&gt;&#10;                &lt;Text style={{ fontSize: 24, fontWeight: 'bold', color: '#FFFFFF' }}&gt;三条命令就能跑&lt;/Text&gt;&#10;                &lt;Text style={{ fontSize: 18, color: '#E2E8F0', lineHeight: 1.6, marginTop: 12 }}&gt;&#10;                    前端、桌面端、聚合服务各自独立，&#10;                    单独跑任何一个都能看到完整功能。&#10;                &lt;/Text&gt;&#10;            &lt;/Box&gt;&#10;            &lt;Box style={{ gap: 12, marginTop: 16 }}&gt;&#10;                &lt;Box style={{ flexDirection: 'row', justifyContent: 'space-between' }}&gt;&#10;                    &lt;Text style={{ fontSize: 18, color: '#94A3B8' }}&gt;TS / TSX&lt;/Text&gt;&#10;                    &lt;Text style={{ fontSize: 18, color: '#E2E8F0' }}&gt;15,173 行&lt;/Text&gt;&#10;                &lt;/Box&gt;&#10;                &lt;Box style={{ flexDirection: 'row', justifyContent: 'space-between' }}&gt;&#10;                    &lt;Text style={{ fontSize: 18, color: '#94A3B8' }}&gt;Rust（桌面壳）&lt;/Text&gt;&#10;                    &lt;Text style={{ fontSize: 18, color: '#E2E8F0' }}&gt;484 行&lt;/Text&gt;&#10;                &lt;/Box&gt;&#10;                &lt;Box style={{ flexDirection: 'row', justifyContent: 'space-between' }}&gt;&#10;                    &lt;Text style={{ fontSize: 18, color: '#94A3B8' }}&gt;Python（聚合）&lt;/Text&gt;&#10;                    &lt;Text style={{ fontSize: 18, color: '#E2E8F0' }}&gt;5,192 行&lt;/Text&gt;&#10;                &lt;/Box&gt;&#10;                &lt;Box style={{ flexDirection: 'row', justifyContent: 'space-between' }}&gt;&#10;                    &lt;Text style={{ fontSize: 18, color: '#94A3B8' }}&gt;自检脚本&lt;/Text&gt;&#10;                    &lt;Text style={{ fontSize: 18, color: '#22D3EE' }}&gt;66 项全通过&lt;/Text&gt;&#10;                &lt;/Box&gt;&#10;                &lt;Box style={{ flexDirection: 'row', justifyContent: 'space-between' }}&gt;&#10;                    &lt;Text style={{ fontSize: 18, color: '#94A3B8' }}&gt;运行时依赖&lt;/Text&gt;&#10;                    &lt;Text style={{ fontSize: 18, color: '#E2E8F0' }}&gt;17 个&lt;/Text&gt;&#10;                &lt;/Box&gt;&#10;            &lt;/Box&gt;&#10;        &lt;/Box&gt;&#10;&#10;        &lt;Box style={{ flex: 1, gap: 14 }}&gt;&#10;            &lt;Box style={{ padding: 16, background: '#151B33', borderRadius: 8 }}&gt;&#10;                &lt;Text style={{ fontSize: 18, color: '#22D3EE', fontFamily: 'Consolas' }}&gt;cd personal-os &amp;&amp; npm install &amp;&amp; npm run dev&lt;/Text&gt;&#10;                &lt;Text style={{ fontSize: 16, color: '#94A3B8', marginTop: 8 }}&gt;# 网页版，http://127.0.0.1:5173，零配置看到全部界面&lt;/Text&gt;&#10;            &lt;/Box&gt;&#10;            &lt;Box style={{ padding: 16, background: '#151B33', borderRadius: 8 }}&gt;&#10;                &lt;Text style={{ fontSize: 18, color: '#22D3EE', fontFamily: 'Consolas' }}&gt;npm run tauri:build &amp;&amp; npm run dist:portable&lt;/Text&gt;&#10;                &lt;Text style={{ fontSize: 16, color: '#94A3B8', marginTop: 8 }}&gt;# 桌面版：27MB 安装包 / 便携版 zip，双击即用，无需管理员权限&lt;/Text&gt;&#10;            &lt;/Box&gt;&#10;            &lt;Box style={{ padding: 16, background: '#151B33', borderRadius: 8 }}&gt;&#10;                &lt;Text style={{ fontSize: 18, color: '#22D3EE', fontFamily: 'Consolas' }}&gt;cd aggregator &amp;&amp; python main.py&lt;/Text&gt;&#10;                &lt;Text style={{ fontSize: 16, color: '#94A3B8', marginTop: 8 }}&gt;# 聚合服务：自动检查 Python 与依赖、装好后打开 http://127.0.0.1:8787&lt;/Text&gt;&#10;            &lt;/Box&gt;&#10;            &lt;Box style={{ padding: 16, background: '#151B33', borderRadius: 8 }}&gt;&#10;                &lt;Text style={{ fontSize: 18, color: '#22D3EE', fontFamily: 'Consolas' }}&gt;npm run model:setup&lt;/Text&gt;&#10;                &lt;Text style={{ fontSize: 16, color: '#94A3B8', marginTop: 8 }}&gt;# 可选：下载 25MB 中文向量模型，之后永久离线可用&lt;/Text&gt;&#10;            &lt;/Box&gt;&#10;        &lt;/Box&gt;&#10;    &lt;/Box&gt;&#10;&#10;    &lt;Box style={{ marginTop: 16, padding: 16, background: '#151B33', borderRadius: 8, borderLeft: '3px solid #22D3EE' }}&gt;&#10;        &lt;Text style={{ fontSize: 18, color: '#E2E8F0', lineHeight: 1.5 }}&gt;&#10;            &lt;span style={{ fontWeight: 'bold', color: '#22D3EE' }}&gt;构建期就拦住的坑&lt;/span&gt;&#10;            ：命令名静态比对脚本（前端调用名 vs Rust 注册名）在打包前跑，避免&quot;点了没反应&quot;这类只有运行时才暴露的静默失败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2933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工程化设计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可复现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0391775" y="800100"/>
            <a:ext cx="1228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09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别人也能跑起来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19" name=""/>
          <p:cNvSpPr/>
          <p:nvPr/>
        </p:nvSpPr>
        <p:spPr>
          <a:xfrm rot="0" flipH="0" flipV="0">
            <a:off x="571500" y="1295400"/>
            <a:ext cx="2857500" cy="1762125"/>
          </a:xfrm>
          <a:prstGeom prst="roundRect">
            <a:avLst>
              <a:gd name="adj" fmla="val 4324"/>
            </a:avLst>
          </a:prstGeom>
          <a:gradFill>
            <a:gsLst>
              <a:gs pos="0">
                <a:srgbClr val="4F46E5"/>
              </a:gs>
              <a:gs pos="100000">
                <a:srgbClr val="151B33"/>
              </a:gs>
            </a:gsLst>
            <a:lin ang="4200000" scaled="1"/>
          </a:gra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762000" y="1485900"/>
            <a:ext cx="2476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三条命令就能跑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762000" y="1876425"/>
            <a:ext cx="247650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前端、桌面端、聚合服务各自独立，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单独跑任何一个都能看到完整功能。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71500" y="320992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TS / TSX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2657475" y="3209925"/>
            <a:ext cx="771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15,173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行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571500" y="3533775"/>
            <a:ext cx="1219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Rust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（桌面壳）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2905125" y="3533775"/>
            <a:ext cx="523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484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行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71500" y="3857625"/>
            <a:ext cx="1266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Python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（聚合）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2762250" y="3857625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5,192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行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571500" y="418147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自检脚本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2486025" y="4181475"/>
            <a:ext cx="9429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22D3EE"/>
                </a:solidFill>
                <a:latin typeface="Microsoft YaHei"/>
                <a:ea typeface="Microsoft YaHei"/>
              </a:rPr>
              <a:t xml:space="preserve">66 </a:t>
            </a: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项全通过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571500" y="4505325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运行时依赖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3000375" y="4505325"/>
            <a:ext cx="4286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17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个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3695700" y="1295400"/>
            <a:ext cx="7924800" cy="781050"/>
          </a:xfrm>
          <a:prstGeom prst="roundRect">
            <a:avLst>
              <a:gd name="adj" fmla="val 9756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848100" y="1447800"/>
            <a:ext cx="762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22D3EE"/>
                </a:solidFill>
                <a:latin typeface="Consolas"/>
                <a:ea typeface="Consolas"/>
              </a:rPr>
              <a:t>cd personal-os &amp;&amp; npm install &amp;&amp; npm run dev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848100" y="1733550"/>
            <a:ext cx="7620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网页版，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http://127.0.0.1:5173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，零配置看到全部界面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3695700" y="2209800"/>
            <a:ext cx="7924800" cy="781050"/>
          </a:xfrm>
          <a:prstGeom prst="roundRect">
            <a:avLst>
              <a:gd name="adj" fmla="val 9756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3848100" y="2362200"/>
            <a:ext cx="762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22D3EE"/>
                </a:solidFill>
                <a:latin typeface="Consolas"/>
                <a:ea typeface="Consolas"/>
              </a:rPr>
              <a:t>npm run tauri:build &amp;&amp; npm run dist:portable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48100" y="2647950"/>
            <a:ext cx="7620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桌面版：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27MB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安装包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便携版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zip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，双击即用，无需管理员权限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3695700" y="3124200"/>
            <a:ext cx="7924800" cy="781050"/>
          </a:xfrm>
          <a:prstGeom prst="roundRect">
            <a:avLst>
              <a:gd name="adj" fmla="val 9756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3848100" y="3276600"/>
            <a:ext cx="762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22D3EE"/>
                </a:solidFill>
                <a:latin typeface="Consolas"/>
                <a:ea typeface="Consolas"/>
              </a:rPr>
              <a:t>cd aggregator &amp;&amp; python main.py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48100" y="3562350"/>
            <a:ext cx="7620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聚合服务：自动检查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与依赖、装好后打开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http://127.0.0.1:8787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3695700" y="4038600"/>
            <a:ext cx="7924800" cy="781050"/>
          </a:xfrm>
          <a:prstGeom prst="roundRect">
            <a:avLst>
              <a:gd name="adj" fmla="val 9756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48100" y="4191000"/>
            <a:ext cx="762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22D3EE"/>
                </a:solidFill>
                <a:latin typeface="Consolas"/>
                <a:ea typeface="Consolas"/>
              </a:rPr>
              <a:t>npm run model:setup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48100" y="4476750"/>
            <a:ext cx="7620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可选：下载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25MB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中文向量模型，之后永久离线可用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600075" y="4972050"/>
            <a:ext cx="11049000" cy="619125"/>
          </a:xfrm>
          <a:prstGeom prst="roundRect">
            <a:avLst>
              <a:gd name="adj" fmla="val 12308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45" name=""/>
          <p:cNvSpPr/>
          <p:nvPr/>
        </p:nvSpPr>
        <p:spPr>
          <a:xfrm rot="0" flipH="0" flipV="0">
            <a:off x="600075" y="4972050"/>
            <a:ext cx="11049000" cy="619125"/>
          </a:xfrm>
          <a:custGeom>
            <a:pathLst>
              <a:path w="1160" h="6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0"/>
                </a:lnTo>
                <a:cubicBezTo>
                  <a:pt x="3" y="62"/>
                  <a:pt x="5" y="64"/>
                  <a:pt x="7" y="65"/>
                </a:cubicBezTo>
                <a:cubicBezTo>
                  <a:pt x="3" y="64"/>
                  <a:pt x="0" y="61"/>
                  <a:pt x="0" y="5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52475" y="5124450"/>
            <a:ext cx="107156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构建期就拦住的坑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：命令名静态比对脚本（前端调用名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vs Rust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注册名）在打包前跑，避免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点了没反应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这类只有运行时才暴露的静默失败。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48" name="" descr="&lt;Slide style={{ background: '#0B1020', padding: 60 }}&gt;&#10;    &lt;Box style={{ flexDirection: 'row', justifyContent: 'space-between', alignItems: 'flex-end' }}&gt;&#10;        &lt;Text style={{ fontSize: 34, fontWeight: 'bold', color: '#FFFFFF' }}&gt;工程化设计 · 异常都有去处&lt;/Text&gt;&#10;        &lt;Text style={{ fontSize: 14, color: '#64748B' }}&gt;10 / 降级 · 重试 · 恢复 · 人工介入&lt;/Text&gt;&#10;    &lt;/Box&gt;&#10;    &lt;Box style={{ width: '100%', height: 1, background: 'rgba(34,211,238,0.4)', marginTop: 14 }} /&gt;&#10;&#10;    &lt;Box style={{ flexDirection: 'row', gap: 20, marginTop: 14, paddingBottom: 10 }}&gt;&#10;        &lt;Text style={{ fontSize: 20, fontWeight: 'bold', color: '#F0ABFC', width: 330 }}&gt;会出什么错&lt;/Text&gt;&#10;        &lt;Text style={{ fontSize: 20, fontWeight: 'bold', color: '#F0ABFC', width: 500 }}&gt;系统怎么处理&lt;/Text&gt;&#10;        &lt;Text style={{ fontSize: 20, fontWeight: 'bold', color: '#F0ABFC', width: 310 }}&gt;界面怎么说&lt;/Text&gt;&#10;    &lt;/Box&gt;&#10;&#10;    &lt;Box style={{ marginTop: 4 }}&gt;&#10;        &lt;Box style={{ flexDirection: 'row', gap: 20, paddingVertical: 10, borderBottom: '1px solid #334155' }}&gt;&#10;            &lt;Text style={{ fontSize: 17, color: '#E2E8F0', width: 330, lineHeight: 1.4 }}&gt;云端不可用（没填 Key / 断网）&lt;/Text&gt;&#10;            &lt;Text style={{ fontSize: 17, color: '#E2E8F0', width: 500, lineHeight: 1.4 }}&gt;降级链：主模型 → 本地 Ollama → 本地规则&lt;/Text&gt;&#10;            &lt;Text style={{ fontSize: 17, color: '#94A3B8', width: 310, lineHeight: 1.4 }}&gt;标注&quot;本地规则生成&quot;并给出原因&lt;/Text&gt;&#10;        &lt;/Box&gt;&#10;        &lt;Box style={{ flexDirection: 'row', gap: 20, paddingVertical: 10, borderBottom: '1px solid #334155' }}&gt;&#10;            &lt;Text style={{ fontSize: 17, color: '#E2E8F0', width: 330, lineHeight: 1.4 }}&gt;模型输出不是 JSON / 带代码围栏&lt;/Text&gt;&#10;            &lt;Text style={{ fontSize: 17, color: '#E2E8F0', width: 500, lineHeight: 1.4 }}&gt;剥围栏 → 白名单过滤 → 数值 clamp → 标题兜底&lt;/Text&gt;&#10;            &lt;Text style={{ fontSize: 17, color: '#94A3B8', width: 310, lineHeight: 1.4 }}&gt;报错带服务端原文，不止报状态码&lt;/Text&gt;&#10;        &lt;/Box&gt;&#10;        &lt;Box style={{ flexDirection: 'row', gap: 20, paddingVertical: 10, borderBottom: '1px solid #334155' }}&gt;&#10;            &lt;Text style={{ fontSize: 17, color: '#E2E8F0', width: 330, lineHeight: 1.4 }}&gt;接口 400（如 JSON 模式要求提示词含 json）&lt;/Text&gt;&#10;            &lt;Text style={{ fontSize: 17, color: '#E2E8F0', width: 500, lineHeight: 1.4 }}&gt;提示词补齐约束字样，输出格式统一&lt;/Text&gt;&#10;            &lt;Text style={{ fontSize: 17, color: '#94A3B8', width: 310, lineHeight: 1.4 }}&gt;同左，问题一次定位到&lt;/Text&gt;&#10;        &lt;/Box&gt;&#10;        &lt;Box style={{ flexDirection: 'row', gap: 20, paddingVertical: 10, borderBottom: '1px solid #334155' }}&gt;&#10;            &lt;Text style={{ fontSize: 17, color: '#E2E8F0', width: 330, lineHeight: 1.4 }}&gt;抓取失败 / 超时&lt;/Text&gt;&#10;            &lt;Text style={{ fontSize: 17, color: '#E2E8F0', width: 500, lineHeight: 1.4 }}&gt;记 fetch_runs，退避 1m→5m→15m→1h→4h&lt;/Text&gt;&#10;            &lt;Text style={{ fontSize: 17, color: '#94A3B8', width: 310, lineHeight: 1.4 }}&gt;来源卡片显示健康状态与最近错误&lt;/Text&gt;&#10;        &lt;/Box&gt;&#10;        &lt;Box style={{ flexDirection: 'row', gap: 20, paddingVertical: 10, borderBottom: '1px solid #334155' }}&gt;&#10;            &lt;Text style={{ fontSize: 17, color: '#E2E8F0', width: 330, lineHeight: 1.4 }}&gt;连续失败 5 次&lt;/Text&gt;&#10;            &lt;Text style={{ fontSize: 17, color: '#E2E8F0', width: 500, lineHeight: 1.4 }}&gt;自动隔离，&lt;span style={{ color: '#22D3EE' }}&gt;但可逆&lt;/span&gt;：一键清零并立刻到期&lt;/Text&gt;&#10;            &lt;Text style={{ fontSize: 17, color: '#94A3B8', width: 310, lineHeight: 1.4 }}&gt;多出一个&quot;重试&quot;按钮&lt;/Text&gt;&#10;        &lt;/Box&gt;&#10;        &lt;Box style={{ flexDirection: 'row', gap: 20, paddingVertical: 10, borderBottom: '1px solid #334155' }}&gt;&#10;            &lt;Text style={{ fontSize: 17, color: '#E2E8F0', width: 330, lineHeight: 1.4 }}&gt;robots 不允许 / 内网地址&lt;/Text&gt;&#10;            &lt;Text style={{ fontSize: 17, color: '#E2E8F0', width: 500, lineHeight: 1.4 }}&gt;不重试，记具体原因（每跳重定向都校验）&lt;/Text&gt;&#10;            &lt;Text style={{ fontSize: 17, color: '#94A3B8', width: 310, lineHeight: 1.4 }}&gt;新增来源预检时就提示&lt;/Text&gt;&#10;        &lt;/Box&gt;&#10;        &lt;Box style={{ flexDirection: 'row', gap: 20, paddingVertical: 10, borderBottom: '1px solid #334155' }}&gt;&#10;            &lt;Text style={{ fontSize: 17, color: '#E2E8F0', width: 330, lineHeight: 1.4 }}&gt;本机聚合服务没启动&lt;/Text&gt;&#10;            &lt;Text style={{ fontSize: 17, color: '#E2E8F0', width: 500, lineHeight: 1.4 }}&gt;1.5 秒快速失败，退回上次快照继续可搜&lt;/Text&gt;&#10;            &lt;Text style={{ fontSize: 17, color: '#94A3B8', width: 310, lineHeight: 1.4 }}&gt;&quot;显示的是上次快照&quot;+ 更新时间&lt;/Text&gt;&#10;        &lt;/Box&gt;&#10;        &lt;Box style={{ flexDirection: 'row', gap: 20, paddingVertical: 10, borderBottom: '1px solid #334155' }}&gt;&#10;            &lt;Text style={{ fontSize: 17, color: '#E2E8F0', width: 330, lineHeight: 1.4 }}&gt;桌面原生能力调用不到&lt;/Text&gt;&#10;            &lt;Text style={{ fontSize: 17, color: '#E2E8F0', width: 500, lineHeight: 1.4 }}&gt;命令名静态体检脚本前置拦截&lt;/Text&gt;&#10;            &lt;Text style={{ fontSize: 17, color: '#94A3B8', width: 310, lineHeight: 1.4 }}&gt;构建期报错，不等运行时发现&lt;/Text&gt;&#10;        &lt;/Box&gt;&#10;    &lt;/Box&gt;&#10;&#10;    &lt;Box style={{ marginTop: 14, padding: 16, background: '#151B33', borderRadius: 8, borderLeft: '3px solid #F0ABFC' }}&gt;&#10;        &lt;Text style={{ fontSize: 18, color: '#E2E8F0', lineHeight: 1.5 }}&gt;&#10;            &lt;span style={{ fontWeight: 'bold', color: '#F0ABFC' }}&gt;人工介入的闸门&lt;/span&gt;&#10;            ：AI 解析结果一律进草稿箱等你确认；每条能力不可用都必须给出一句人话原因 + 修复入口 —— 不允许&quot;灰着但没解释&quot;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3905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工程化设计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异常都有去处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9658350" y="800100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10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降级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重试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恢复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人工介入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571500" y="1238250"/>
            <a:ext cx="3086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0ABFC"/>
                </a:solidFill>
                <a:latin typeface="Microsoft YaHei"/>
                <a:ea typeface="Microsoft YaHei"/>
              </a:rPr>
              <a:t>会出什么错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3848100" y="1238250"/>
            <a:ext cx="4676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0ABFC"/>
                </a:solidFill>
                <a:latin typeface="Microsoft YaHei"/>
                <a:ea typeface="Microsoft YaHei"/>
              </a:rPr>
              <a:t>系统怎么处理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8715375" y="1238250"/>
            <a:ext cx="2905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0ABFC"/>
                </a:solidFill>
                <a:latin typeface="Microsoft YaHei"/>
                <a:ea typeface="Microsoft YaHei"/>
              </a:rPr>
              <a:t>界面怎么说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571500" y="1600200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71500" y="1600200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云端不可用（没填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Key /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断网）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3848100" y="1600200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降级链：主模型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本地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Ollama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本地规则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715375" y="1600200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标注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本地规则生成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并给出原因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571500" y="1885950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71500" y="1885950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模型输出不是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JSON /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带代码围栏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48100" y="1885950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剥围栏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白名单过滤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数值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clamp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标题兜底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8715375" y="1885950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报错带服务端原文，不止报状态码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571500" y="2171700"/>
            <a:ext cx="11049000" cy="571500"/>
          </a:xfrm>
          <a:custGeom>
            <a:pathLst>
              <a:path w="1160" h="60">
                <a:moveTo>
                  <a:pt x="0" y="59"/>
                </a:moveTo>
                <a:lnTo>
                  <a:pt x="1160" y="59"/>
                </a:lnTo>
                <a:lnTo>
                  <a:pt x="1160" y="60"/>
                </a:lnTo>
                <a:lnTo>
                  <a:pt x="0" y="60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71500" y="2171700"/>
            <a:ext cx="3086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接口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400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（如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模式要求提示词含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848100" y="2171700"/>
            <a:ext cx="4676775" cy="552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提示词补齐约束字样，输出格式统一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8715375" y="2171700"/>
            <a:ext cx="2905125" cy="552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同左，问题一次定位到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571500" y="2733675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571500" y="2733675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抓取失败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超时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3848100" y="2733675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记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fetch_runs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，退避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1m→5m→15m→1h→4h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8715375" y="2733675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来源卡片显示健康状态与最近错误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571500" y="3019425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571500" y="3019425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连续失败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3848100" y="3019425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自动隔离，</a:t>
            </a:r>
            <a:r>
              <a:rPr lang="zh-CN" sz="1275">
                <a:solidFill>
                  <a:srgbClr val="22D3EE"/>
                </a:solidFill>
                <a:latin typeface="Microsoft YaHei"/>
                <a:ea typeface="Microsoft YaHei"/>
              </a:rPr>
              <a:t>但可逆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：一键清零并立刻到期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8715375" y="3019425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多出一个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重试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按钮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571500" y="3305175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571500" y="3305175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robots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不允许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内网地址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848100" y="3305175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不重试，记具体原因（每跳重定向都校验）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715375" y="3305175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新增来源预检时就提示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571500" y="3590925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71500" y="3590925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本机聚合服务没启动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848100" y="3590925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1.5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秒快速失败，退回上次快照继续可搜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715375" y="3590925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显示的是上次快照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"+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更新时间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571500" y="3876675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71500" y="3876675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桌面原生能力调用不到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848100" y="3876675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命令名静态体检脚本前置拦截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8715375" y="3876675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构建期报错，不等运行时发现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600075" y="4295775"/>
            <a:ext cx="11049000" cy="619125"/>
          </a:xfrm>
          <a:prstGeom prst="roundRect">
            <a:avLst>
              <a:gd name="adj" fmla="val 12308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600075" y="4295775"/>
            <a:ext cx="11049000" cy="619125"/>
          </a:xfrm>
          <a:custGeom>
            <a:pathLst>
              <a:path w="1160" h="6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0"/>
                </a:lnTo>
                <a:cubicBezTo>
                  <a:pt x="3" y="62"/>
                  <a:pt x="5" y="64"/>
                  <a:pt x="7" y="65"/>
                </a:cubicBezTo>
                <a:cubicBezTo>
                  <a:pt x="3" y="64"/>
                  <a:pt x="0" y="61"/>
                  <a:pt x="0" y="5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0ABFC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752475" y="4448175"/>
            <a:ext cx="107156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F0ABFC"/>
                </a:solidFill>
                <a:latin typeface="Microsoft YaHei"/>
                <a:ea typeface="Microsoft YaHei"/>
              </a:rPr>
              <a:t>人工介入的闸门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解析结果一律进草稿箱等你确认；每条能力不可用都必须给出一句人话原因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修复入口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不允许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灰着但没解释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2" name="" descr="&lt;Slide style={{ background: '#0B1020', padding: 60 }}&gt;&#10;    &lt;Box style={{ flexDirection: 'row', justifyContent: 'space-between', alignItems: 'flex-end' }}&gt;&#10;        &lt;Text style={{ fontSize: 34, fontWeight: 'bold', color: '#FFFFFF' }}&gt;工程化设计 · 可观测性证据&lt;/Text&gt;&#10;        &lt;Text style={{ fontSize: 14, color: '#64748B' }}&gt;11 / 看得见它到底在干什么&lt;/Text&gt;&#10;    &lt;/Box&gt;&#10;    &lt;Box style={{ width: '100%', height: 1, background: 'rgba(34,211,238,0.4)', marginTop: 14 }} /&gt;&#10;&#10;    &lt;Box style={{ flexDirection: 'row', gap: 28, marginTop: 18 }}&gt;&#10;        &lt;Box style={{ width: 560 }}&gt;&#10;            &lt;Image src=&quot;assets/settings-checkup.png&quot; style={{ width: 560, height: 320, objectFit: 'cover', borderRadius: 8, border: '1px solid #334155' }} /&gt;&#10;            &lt;Text style={{ fontSize: 16, color: '#94A3B8', marginTop: 8 }}&gt;设置 → 一键体检：每项能力给出&quot;能不能用 + 为什么 + 去哪修&quot;&lt;/Text&gt;&#10;        &lt;/Box&gt;&#10;&#10;        &lt;Box style={{ flex: 1 }}&gt;&#10;            &lt;Box style={{ gap: 14 }}&gt;&#10;                &lt;Box style={{ padding: 14, background: '#151B33', borderRadius: 8 }}&gt;&#10;                    &lt;Text style={{ fontSize: 18, color: '#E2E8F0', lineHeight: 1.5 }}&gt;&#10;                        &lt;span style={{ fontWeight: 'bold', color: '#22D3EE' }}&gt;抓取运行记录&lt;/span&gt;：每轮写 fetch_runs&#10;                        （状态 / HTTP 码 / 耗时 / 发现 / 新增 / 错误类型），界面与 CLI 都能按时间倒序查&#10;                    &lt;/Text&gt;&#10;                &lt;/Box&gt;&#10;                &lt;Box style={{ padding: 14, background: '#151B33', borderRadius: 8 }}&gt;&#10;                    &lt;Text style={{ fontSize: 18, color: '#E2E8F0', lineHeight: 1.5 }}&gt;&#10;                        &lt;span style={{ fontWeight: 'bold', color: '#22D3EE' }}&gt;正文覆盖指标&lt;/span&gt;：&#10;                        &lt;span style={{ fontFamily: 'Consolas', fontSize: 16 }}&gt; /api/content/status&lt;/span&gt; 直接给出&#10;                        75 条 / 60 条有正文 / 8.3 万字&#10;                    &lt;/Text&gt;&#10;                &lt;/Box&gt;&#10;                &lt;Box style={{ padding: 14, background: '#151B33', borderRadius: 8 }}&gt;&#10;                    &lt;Text style={{ fontSize: 18, color: '#E2E8F0', lineHeight: 1.5 }}&gt;&#10;                        &lt;span style={{ fontWeight: 'bold', color: '#22D3EE' }}&gt;调用留痕&lt;/span&gt;：问答结果带 provider /&#10;                        usedCloud / notes，界面直说&quot;片段已送模型总结&quot;或&quot;纯本地，未出网&quot;&#10;                    &lt;/Text&gt;&#10;                &lt;/Box&gt;&#10;                &lt;Box style={{ padding: 14, background: '#151B33', borderRadius: 8 }}&gt;&#10;                    &lt;Text style={{ fontSize: 18, color: '#E2E8F0', lineHeight: 1.5 }}&gt;&#10;                        &lt;span style={{ fontWeight: 'bold', color: '#22D3EE' }}&gt;诊断包可安全外发&lt;/span&gt;：只含版本、环境、&#10;                        能力状态，&lt;span style={{ color: '#F0ABFC' }}&gt;代码写死不含日程 / 笔记 / 正文 / Key&lt;/span&gt;&#10;                    &lt;/Text&gt;&#10;                &lt;/Box&gt;&#10;            &lt;/Box&gt;&#10;        &lt;/Box&gt;&#10;    &lt;/Box&gt;&#10;&#10;    &lt;Box style={{ marginTop: 14, padding: 16, background: '#151B33', borderRadius: 8, borderLeft: '3px solid #22D3EE' }}&gt;&#10;        &lt;Text style={{ fontSize: 18, color: '#E2E8F0', lineHeight: 1.5 }}&gt;&#10;            &lt;span style={{ fontWeight: 'bold', color: '#22D3EE' }}&gt;设计取舍&lt;/span&gt;&#10;            ：不引入 Prometheus /  tracing 那套 —— 单机自用工具里，一条抓取日志 + 一张能力体检表&#10;            已经能回答&quot;它现在能不能用、上一次干了什么&quot;，重量级监控只会增加维护成本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3905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工程化设计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可观测性证据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9991725" y="800100"/>
            <a:ext cx="1628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11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看得见它到底在干什么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97" name=""/>
          <p:cNvSpPr/>
          <p:nvPr/>
        </p:nvSpPr>
        <p:spPr>
          <a:xfrm rot="0" flipH="0" flipV="0">
            <a:off x="571500" y="1276350"/>
            <a:ext cx="5334000" cy="304800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98" name=""/>
          <p:cNvPicPr>
            <a:picLocks noChangeAspect="1"/>
          </p:cNvPicPr>
          <p:nvPr/>
        </p:nvPicPr>
        <p:blipFill>
          <a:blip r:embed="rId1"/>
          <a:srcRect l="0" t="450" r="0" b="450"/>
          <a:stretch>
            <a:fillRect/>
          </a:stretch>
        </p:blipFill>
        <p:spPr>
          <a:xfrm rot="0" flipH="0" flipV="0">
            <a:off x="571500" y="1276350"/>
            <a:ext cx="5334000" cy="3048000"/>
          </a:xfrm>
          <a:prstGeom prst="roundRect">
            <a:avLst>
              <a:gd name="adj" fmla="val 2500"/>
            </a:avLst>
          </a:prstGeom>
          <a:ln/>
        </p:spPr>
      </p:pic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571500" y="440055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设置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一键体检：每项能力给出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能不能用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为什么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去哪修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172200" y="1276350"/>
            <a:ext cx="5448300" cy="885825"/>
          </a:xfrm>
          <a:prstGeom prst="roundRect">
            <a:avLst>
              <a:gd name="adj" fmla="val 8602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305550" y="1409700"/>
            <a:ext cx="51816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抓取运行记录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：每轮写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fetch_runs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（状态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HTTP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码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耗时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发现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新增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错误类型），界面与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CLI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都能按时间倒序查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6172200" y="2295525"/>
            <a:ext cx="5448300" cy="885825"/>
          </a:xfrm>
          <a:prstGeom prst="roundRect">
            <a:avLst>
              <a:gd name="adj" fmla="val 8602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305550" y="2428875"/>
            <a:ext cx="51816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正文覆盖指标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200">
                <a:solidFill>
                  <a:srgbClr val="E2E8F0"/>
                </a:solidFill>
                <a:latin typeface="Microsoft YaHei"/>
                <a:ea typeface="Microsoft YaHei"/>
              </a:rPr>
              <a:t xml:space="preserve"> /api/content/status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直接给出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75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60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条有正文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8.3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万字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6172200" y="3314700"/>
            <a:ext cx="5448300" cy="885825"/>
          </a:xfrm>
          <a:prstGeom prst="roundRect">
            <a:avLst>
              <a:gd name="adj" fmla="val 8602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305550" y="3448050"/>
            <a:ext cx="51816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调用留痕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：问答结果带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provider / usedCloud / notes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，界面直说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片段已送模型总结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或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纯本地，未出网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6172200" y="4333875"/>
            <a:ext cx="5448300" cy="885825"/>
          </a:xfrm>
          <a:prstGeom prst="roundRect">
            <a:avLst>
              <a:gd name="adj" fmla="val 8602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305550" y="4467225"/>
            <a:ext cx="51816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诊断包可安全外发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：只含版本、环境、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能力状态，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代码写死不含日程</a:t>
            </a:r>
            <a:r>
              <a:rPr lang="en-US" sz="1350">
                <a:solidFill>
                  <a:srgbClr val="F0ABFC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笔记</a:t>
            </a:r>
            <a:r>
              <a:rPr lang="en-US" sz="1350">
                <a:solidFill>
                  <a:srgbClr val="F0ABFC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正文</a:t>
            </a:r>
            <a:r>
              <a:rPr lang="en-US" sz="1350">
                <a:solidFill>
                  <a:srgbClr val="F0ABFC"/>
                </a:solidFill>
                <a:latin typeface="Microsoft YaHei"/>
                <a:ea typeface="Microsoft YaHei"/>
              </a:rPr>
              <a:t xml:space="preserve"> / Key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600075" y="5353050"/>
            <a:ext cx="11049000" cy="923925"/>
          </a:xfrm>
          <a:prstGeom prst="roundRect">
            <a:avLst>
              <a:gd name="adj" fmla="val 8247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0075" y="5353050"/>
            <a:ext cx="11049000" cy="923925"/>
          </a:xfrm>
          <a:custGeom>
            <a:pathLst>
              <a:path w="1160" h="97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92"/>
                </a:lnTo>
                <a:cubicBezTo>
                  <a:pt x="3" y="94"/>
                  <a:pt x="5" y="96"/>
                  <a:pt x="7" y="97"/>
                </a:cubicBezTo>
                <a:cubicBezTo>
                  <a:pt x="3" y="96"/>
                  <a:pt x="0" y="93"/>
                  <a:pt x="0" y="8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52475" y="5505450"/>
            <a:ext cx="1071562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设计取舍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：不引入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Prometheus /  tracing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那套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单机自用工具里，一条抓取日志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一张能力体检表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已经能回答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它现在能不能用、上一次干了什么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，重量级监控只会增加维护成本。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12" name="" descr="&lt;Slide style={{ background: '#0B1020', padding: 60 }}&gt;&#10;    &lt;Box style={{ flexDirection: 'row', justifyContent: 'space-between', alignItems: 'flex-end' }}&gt;&#10;        &lt;Text style={{ fontSize: 34, fontWeight: 'bold', color: '#FFFFFF' }}&gt;成本、性能与取舍&lt;/Text&gt;&#10;        &lt;Text style={{ fontSize: 14, color: '#64748B' }}&gt;12 / 当前瓶颈与优化方向&lt;/Text&gt;&#10;    &lt;/Box&gt;&#10;    &lt;Box style={{ width: '100%', height: 1, background: 'rgba(34,211,238,0.4)', marginTop: 14 }} /&gt;&#10;&#10;    &lt;Box style={{ flexDirection: 'row', gap: 22, marginTop: 18 }}&gt;&#10;        &lt;Box style={{ flex: 1, padding: 18, background: '#151B33', borderRadius: 8 }}&gt;&#10;            &lt;Text style={{ fontSize: 22, fontWeight: 'bold', color: '#22D3EE' }}&gt;API 成本&lt;/Text&gt;&#10;            &lt;Text style={{ fontSize: 16, color: '#94A3B8', marginTop: 6 }}&gt;DeepSeek 峰谷价 · 空闲时段&lt;/Text&gt;&#10;            &lt;Box style={{ gap: 10, marginTop: 14 }}&gt;&#10;                &lt;Box style={{ flexDirection: 'row', justifyContent: 'space-between' }}&gt;&#10;                    &lt;Text style={{ fontSize: 17, color: '#E2E8F0' }}&gt;收集箱解析一次&lt;/Text&gt;&#10;                    &lt;Text style={{ fontSize: 17, color: '#F0ABFC' }}&gt;¥0.0026&lt;/Text&gt;&#10;                &lt;/Box&gt;&#10;                &lt;Box style={{ flexDirection: 'row', justifyContent: 'space-between' }}&gt;&#10;                    &lt;Text style={{ fontSize: 17, color: '#E2E8F0' }}&gt;问答一次（2 次调用）&lt;/Text&gt;&#10;                    &lt;Text style={{ fontSize: 17, color: '#F0ABFC' }}&gt;¥0.0045&lt;/Text&gt;&#10;                &lt;/Box&gt;&#10;                &lt;Box style={{ flexDirection: 'row', justifyContent: 'space-between' }}&gt;&#10;                    &lt;Text style={{ fontSize: 17, color: '#E2E8F0' }}&gt;查询改写一次&lt;/Text&gt;&#10;                    &lt;Text style={{ fontSize: 17, color: '#F0ABFC' }}&gt;¥0.0006&lt;/Text&gt;&#10;                &lt;/Box&gt;&#10;                &lt;Box style={{ height: 1, background: '#334155', marginVertical: 4 }} /&gt;&#10;                &lt;Text style={{ fontSize: 17, color: '#E2E8F0', lineHeight: 1.5 }}&gt;&#10;                    每天 20 次解析 + 10 次问答 ≈ &lt;span style={{ color: '#22D3EE', fontWeight: 'bold' }}&gt;¥3 / 月&lt;/span&gt;&#10;                &lt;/Text&gt;&#10;                &lt;Text style={{ fontSize: 17, color: '#94A3B8', lineHeight: 1.5 }}&gt;&#10;                    关掉云端 = ¥0：全部走本地规则与本地向量&#10;                &lt;/Text&gt;&#10;            &lt;/Box&gt;&#10;        &lt;/Box&gt;&#10;&#10;        &lt;Box style={{ flex: 1, padding: 18, background: '#151B33', borderRadius: 8 }}&gt;&#10;            &lt;Text style={{ fontSize: 22, fontWeight: 'bold', color: '#22D3EE' }}&gt;端到端延迟（实测）&lt;/Text&gt;&#10;            &lt;Text style={{ fontSize: 16, color: '#94A3B8', marginTop: 6 }}&gt;本机 · 83 条索引&lt;/Text&gt;&#10;            &lt;Box style={{ gap: 10, marginTop: 14 }}&gt;&#10;                &lt;Box style={{ flexDirection: 'row', justifyContent: 'space-between' }}&gt;&#10;                    &lt;Text style={{ fontSize: 17, color: '#E2E8F0' }}&gt;全文 / 语义检索&lt;/Text&gt;&#10;                    &lt;Text style={{ fontSize: 17, color: '#F0ABFC' }}&gt;毫秒级&lt;/Text&gt;&#10;                &lt;/Box&gt;&#10;                &lt;Box style={{ flexDirection: 'row', justifyContent: 'space-between' }}&gt;&#10;                    &lt;Text style={{ fontSize: 17, color: '#E2E8F0' }}&gt;向量模型首次加载&lt;/Text&gt;&#10;                    &lt;Text style={{ fontSize: 17, color: '#F0ABFC' }}&gt;1.2 s&lt;/Text&gt;&#10;                &lt;/Box&gt;&#10;                &lt;Box style={{ flexDirection: 'row', justifyContent: 'space-between' }}&gt;&#10;                    &lt;Text style={{ fontSize: 17, color: '#E2E8F0' }}&gt;建索引&lt;/Text&gt;&#10;                    &lt;Text style={{ fontSize: 17, color: '#F0ABFC' }}&gt;30–60 ms/条&lt;/Text&gt;&#10;                &lt;/Box&gt;&#10;                &lt;Box style={{ flexDirection: 'row', justifyContent: 'space-between' }}&gt;&#10;                    &lt;Text style={{ fontSize: 17, color: '#E2E8F0' }}&gt;问答（云端）&lt;/Text&gt;&#10;                    &lt;Text style={{ fontSize: 17, color: '#F0ABFC' }}&gt;2–5 s&lt;/Text&gt;&#10;                &lt;/Box&gt;&#10;                &lt;Box style={{ flexDirection: 'row', justifyContent: 'space-between' }}&gt;&#10;                    &lt;Text style={{ fontSize: 17, color: '#E2E8F0' }}&gt;补正文（62 条）&lt;/Text&gt;&#10;                    &lt;Text style={{ fontSize: 17, color: '#F0ABFC' }}&gt;约 2 分钟&lt;/Text&gt;&#10;                &lt;/Box&gt;&#10;                &lt;Text style={{ fontSize: 16, color: '#94A3B8', lineHeight: 1.5, marginTop: 4 }}&gt;&#10;                    资源：安装包 27MB · 索引 2KB/条 · 常驻内存 34MB&#10;                &lt;/Text&gt;&#10;            &lt;/Box&gt;&#10;        &lt;/Box&gt;&#10;&#10;        &lt;Box style={{ flex: 1, padding: 18, background: 'linear-gradient(160deg, #4F46E5 0%, #151B33 100%)', borderRadius: 8 }}&gt;&#10;            &lt;Text style={{ fontSize: 22, fontWeight: 'bold', color: '#FFFFFF' }}&gt;瓶颈与下一步&lt;/Text&gt;&#10;            &lt;Box style={{ gap: 10, marginTop: 14 }}&gt;&#10;                &lt;Text style={{ fontSize: 17, color: '#E2E8F0', lineHeight: 1.45 }}&gt;&#10;                    ① 索引构建串行（逐条 embed）→ 改批量推理，提速 3–5 倍&#10;                &lt;/Text&gt;&#10;                &lt;Text style={{ fontSize: 17, color: '#E2E8F0', lineHeight: 1.45 }}&gt;&#10;                    ② 向量检索线性扫描 → 量级上万后引入 HNSW&#10;                &lt;/Text&gt;&#10;                &lt;Text style={{ fontSize: 17, color: '#E2E8F0', lineHeight: 1.45 }}&gt;&#10;                    ③ 问答两次调用串行 → 改流式输出，首字延迟 &amp;lt;1s&#10;                &lt;/Text&gt;&#10;                &lt;Text style={{ fontSize: 17, color: '#E2E8F0', lineHeight: 1.45 }}&gt;&#10;                    ④ 计算都在主线程 → 搬进 Web Worker，界面不再卡&#10;                &lt;/Text&gt;&#10;                &lt;Text style={{ fontSize: 17, color: '#E2E8F0', lineHeight: 1.45 }}&gt;&#10;                    ⑤ 正文抓取串行 → 按域名并发&#10;                &lt;/Text&gt;&#10;            &lt;/Box&gt;&#10;        &lt;/Box&gt;&#10;    &lt;/Box&gt;&#10;&#10;    &lt;Box style={{ marginTop: 14, padding: 16, background: '#151B33', borderRadius: 8, borderLeft: '3px solid #22D3EE' }}&gt;&#10;        &lt;Text style={{ fontSize: 18, color: '#E2E8F0', lineHeight: 1.5 }}&gt;&#10;            &lt;span style={{ fontWeight: 'bold', color: '#22D3EE' }}&gt;已经做过的取舍&lt;/span&gt;&#10;            ：语义搜索设为&lt;span style={{ color: '#F0ABFC' }}&gt;可选、默认关&lt;/span&gt;（25MB + 建索引耗时），&#10;            把&quot;想不起用词&quot;这个高频需求交给更便宜的查询改写 —— 这就是性能与体验之间的那条线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成本、性能与取舍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125075" y="800100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12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当前瓶颈与优化方向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571500" y="1276350"/>
            <a:ext cx="3543300" cy="3686175"/>
          </a:xfrm>
          <a:prstGeom prst="roundRect">
            <a:avLst>
              <a:gd name="adj" fmla="val 2151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742950" y="1447800"/>
            <a:ext cx="3200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API </a:t>
            </a:r>
            <a:r>
              <a:rPr lang="zh-CN" sz="1650" b="1">
                <a:solidFill>
                  <a:srgbClr val="22D3EE"/>
                </a:solidFill>
                <a:latin typeface="Microsoft YaHei"/>
                <a:ea typeface="Microsoft YaHei"/>
              </a:rPr>
              <a:t>成本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742950" y="1762125"/>
            <a:ext cx="320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DeepSeek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峰谷价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空闲时段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742950" y="2085975"/>
            <a:ext cx="113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收集箱解析一次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3333750" y="2085975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>¥0.0026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742950" y="2381250"/>
            <a:ext cx="1600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问答一次（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2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次调用）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333750" y="238125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>¥0.0045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742950" y="2676525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查询改写一次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333750" y="2676525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>¥0.0006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742950" y="2971800"/>
            <a:ext cx="3200400" cy="952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742950" y="3076575"/>
            <a:ext cx="32004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每天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次解析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+ 10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次问答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≈ </a:t>
            </a:r>
            <a:r>
              <a:rPr lang="en-US" sz="1275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¥3 / </a:t>
            </a:r>
            <a:r>
              <a:rPr lang="zh-CN" sz="1275" b="1">
                <a:solidFill>
                  <a:srgbClr val="22D3EE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742950" y="3467100"/>
            <a:ext cx="32004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关掉云端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= ¥0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：全部走本地规则与本地向量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4324350" y="1276350"/>
            <a:ext cx="3543300" cy="3686175"/>
          </a:xfrm>
          <a:prstGeom prst="roundRect">
            <a:avLst>
              <a:gd name="adj" fmla="val 2151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4495800" y="1447800"/>
            <a:ext cx="3200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22D3EE"/>
                </a:solidFill>
                <a:latin typeface="Microsoft YaHei"/>
                <a:ea typeface="Microsoft YaHei"/>
              </a:rPr>
              <a:t>端到端延迟（实测）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4495800" y="1762125"/>
            <a:ext cx="320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本机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83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条索引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495800" y="2085975"/>
            <a:ext cx="114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全文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语义检索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7210425" y="2085975"/>
            <a:ext cx="485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0ABFC"/>
                </a:solidFill>
                <a:latin typeface="Microsoft YaHei"/>
                <a:ea typeface="Microsoft YaHei"/>
              </a:rPr>
              <a:t>毫秒级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4495800" y="2381250"/>
            <a:ext cx="1295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向量模型首次加载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343775" y="2381250"/>
            <a:ext cx="35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>1.2 s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4495800" y="2676525"/>
            <a:ext cx="485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建索引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715125" y="2676525"/>
            <a:ext cx="981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>30–60 ms/</a:t>
            </a:r>
            <a:r>
              <a:rPr lang="zh-CN" sz="1275">
                <a:solidFill>
                  <a:srgbClr val="F0ABFC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4495800" y="2971800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问答（云端）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286625" y="2971800"/>
            <a:ext cx="409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>2–5 s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495800" y="3267075"/>
            <a:ext cx="1209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补正文（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62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条）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7010400" y="3267075"/>
            <a:ext cx="685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0ABFC"/>
                </a:solidFill>
                <a:latin typeface="Microsoft YaHei"/>
                <a:ea typeface="Microsoft YaHei"/>
              </a:rPr>
              <a:t>约</a:t>
            </a: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>
                <a:solidFill>
                  <a:srgbClr val="F0ABFC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495800" y="3600450"/>
            <a:ext cx="3200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资源：安装包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27MB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索引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2KB/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条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常驻内存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34MB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8077200" y="1276350"/>
            <a:ext cx="3543300" cy="3686175"/>
          </a:xfrm>
          <a:prstGeom prst="roundRect">
            <a:avLst>
              <a:gd name="adj" fmla="val 2151"/>
            </a:avLst>
          </a:prstGeom>
          <a:gradFill>
            <a:gsLst>
              <a:gs pos="0">
                <a:srgbClr val="4F46E5"/>
              </a:gs>
              <a:gs pos="100000">
                <a:srgbClr val="151B33"/>
              </a:gs>
            </a:gsLst>
            <a:lin ang="4200000" scaled="1"/>
          </a:gradFill>
          <a:ln/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8248650" y="1447800"/>
            <a:ext cx="3200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瓶颈与下一步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248650" y="183832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索引构建串行（逐条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embed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）→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改批量推理，提速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3–5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8248650" y="250507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向量检索线性扫描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量级上万后引入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HNSW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8248650" y="317182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问答两次调用串行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改流式输出，首字延迟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&lt;1s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8248650" y="383857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计算都在主线程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搬进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Web Worker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，界面不再卡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8248650" y="4505325"/>
            <a:ext cx="320040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正文抓取串行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按域名并发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600075" y="5095875"/>
            <a:ext cx="11049000" cy="923925"/>
          </a:xfrm>
          <a:prstGeom prst="roundRect">
            <a:avLst>
              <a:gd name="adj" fmla="val 8247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51" name=""/>
          <p:cNvSpPr/>
          <p:nvPr/>
        </p:nvSpPr>
        <p:spPr>
          <a:xfrm rot="0" flipH="0" flipV="0">
            <a:off x="600075" y="5095875"/>
            <a:ext cx="11049000" cy="923925"/>
          </a:xfrm>
          <a:custGeom>
            <a:pathLst>
              <a:path w="1160" h="97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92"/>
                </a:lnTo>
                <a:cubicBezTo>
                  <a:pt x="3" y="94"/>
                  <a:pt x="5" y="96"/>
                  <a:pt x="7" y="97"/>
                </a:cubicBezTo>
                <a:cubicBezTo>
                  <a:pt x="3" y="96"/>
                  <a:pt x="0" y="93"/>
                  <a:pt x="0" y="8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752475" y="5248275"/>
            <a:ext cx="1071562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已经做过的取舍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：语义搜索设为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可选、默认关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25MB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建索引耗时），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把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想不起用词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这个高频需求交给更便宜的查询改写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这就是性能与体验之间的那条线。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54" name="" descr="&lt;Slide style={{ background: '#0B1020', padding: 60 }}&gt;&#10;    &lt;Box style={{ flexDirection: 'row', justifyContent: 'space-between', alignItems: 'flex-end' }}&gt;&#10;        &lt;Text style={{ fontSize: 34, fontWeight: 'bold', color: '#FFFFFF' }}&gt;总结与不足&lt;/Text&gt;&#10;        &lt;Text style={{ fontSize: 14, color: '#64748B' }}&gt;13 / 已完成 · 未解决 · 下一步&lt;/Text&gt;&#10;    &lt;/Box&gt;&#10;    &lt;Box style={{ width: '100%', height: 1, background: 'rgba(34,211,238,0.4)', marginTop: 14 }} /&gt;&#10;&#10;    &lt;Box style={{ flexDirection: 'row', gap: 26, marginTop: 18 }}&gt;&#10;        &lt;Box style={{ flex: 1, padding: 20, background: '#151B33', borderRadius: 8, borderTop: '3px solid #22D3EE' }}&gt;&#10;            &lt;Text style={{ fontSize: 24, fontWeight: 'bold', color: '#22D3EE' }}&gt;已做到的（对照成功标准）&lt;/Text&gt;&#10;            &lt;Box style={{ gap: 12, marginTop: 16 }}&gt;&#10;                &lt;Text style={{ fontSize: 18, color: '#E2E8F0', lineHeight: 1.5 }}&gt;&#10;                    ① 472 字通知 → &lt;span style={{ color: '#F0ABFC', fontWeight: 'bold' }}&gt;9 条&lt;/span&gt;带时间、地点、优先级的草稿，确认才入库&#10;                &lt;/Text&gt;&#10;                &lt;Text style={{ fontSize: 18, color: '#E2E8F0', lineHeight: 1.5 }}&gt;&#10;                    ② 忘了原话也能搜到：语义相似度 51%–56%，&#10;                    &lt;span style={{ color: '#F0ABFC', fontWeight: 'bold' }}&gt;60/75&lt;/span&gt; 条订阅正文进索引&#10;                &lt;/Text&gt;&#10;                &lt;Text style={{ fontSize: 18, color: '#E2E8F0', lineHeight: 1.5 }}&gt;&#10;                    ③ 问一句有答案 + &lt;span style={{ color: '#F0ABFC', fontWeight: 'bold' }}&gt;[1][2]&lt;/span&gt; 引用，点开就是原文&#10;                &lt;/Text&gt;&#10;                &lt;Text style={{ fontSize: 18, color: '#E2E8F0', lineHeight: 1.5 }}&gt;&#10;                    ④ 断网 / 没 Key 时核心功能仍可用，且&lt;span style={{ color: '#22D3EE' }}&gt;说明清楚降级到了哪一步&lt;/span&gt;&#10;                &lt;/Text&gt;&#10;                &lt;Text style={{ fontSize: 18, color: '#E2E8F0', lineHeight: 1.5 }}&gt;&#10;                    ⑤ 工程闭环：66 项自检、抓取日志、能力体检、诊断包（不含用户数据）&#10;                &lt;/Text&gt;&#10;            &lt;/Box&gt;&#10;        &lt;/Box&gt;&#10;&#10;        &lt;Box style={{ flex: 1, padding: 20, background: '#151B33', borderRadius: 8, borderTop: '3px solid #F0ABFC' }}&gt;&#10;            &lt;Text style={{ fontSize: 24, fontWeight: 'bold', color: '#F0ABFC' }}&gt;还没解决的&lt;/Text&gt;&#10;            &lt;Box style={{ gap: 12, marginTop: 16 }}&gt;&#10;                &lt;Text style={{ fontSize: 18, color: '#E2E8F0', lineHeight: 1.5 }}&gt;&#10;                    · 语义索引仍是串行构建，上千条要数分钟（已用&quot;可选 + 上限&quot;缓解，未根治）&#10;                &lt;/Text&gt;&#10;                &lt;Text style={{ fontSize: 18, color: '#E2E8F0', lineHeight: 1.5 }}&gt;&#10;                    · 向量检索线性扫描，没有 HNSW；当前量级无感，上万条会成瓶颈&#10;                &lt;/Text&gt;&#10;                &lt;Text style={{ fontSize: 18, color: '#E2E8F0', lineHeight: 1.5 }}&gt;&#10;                    · 手机上没有语义搜索（25MB 模型不合适），信息流也读不到本机服务&#10;                &lt;/Text&gt;&#10;                &lt;Text style={{ fontSize: 18, color: '#E2E8F0', lineHeight: 1.5 }}&gt;&#10;                    · 13 条抓取失败是 robots 不允许 —— 该不该放行得用户自己决定&#10;                &lt;/Text&gt;&#10;                &lt;Text style={{ fontSize: 18, color: '#E2E8F0', lineHeight: 1.5 }}&gt;&#10;                    · 同步是全量快照，不是增量；也没有公开的自动化 Benchmark&#10;                &lt;/Text&gt;&#10;            &lt;/Box&gt;&#10;        &lt;/Box&gt;&#10;    &lt;/Box&gt;&#10;&#10;    &lt;Box style={{ marginTop: 16, padding: 16, background: 'linear-gradient(120deg, #4F46E5 0%, #151B33 100%)', borderRadius: 8 }}&gt;&#10;        &lt;Text style={{ fontSize: 18, color: '#FFFFFF', lineHeight: 1.5 }}&gt;&#10;            &lt;span style={{ fontWeight: 'bold', color: '#F0ABFC' }}&gt;下一步&lt;/span&gt;&#10;            ：批量推理与 Web Worker（提速 + 不卡界面）→ HNSW 索引 → 问答流式输出 → 增量同步 → 补一份可复现的 Benchmark 脚本。&#10;            方向很明确：**先把&quot;本地这一侧&quot;做快，再决定要不要把重活搬到云上。**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1619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总结与不足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9906000" y="800100"/>
            <a:ext cx="1714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13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已完成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未解决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下一步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571500" y="1304925"/>
            <a:ext cx="5400675" cy="4086225"/>
          </a:xfrm>
          <a:prstGeom prst="roundRect">
            <a:avLst>
              <a:gd name="adj" fmla="val 1865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571500" y="1304925"/>
            <a:ext cx="5400675" cy="4086225"/>
          </a:xfrm>
          <a:custGeom>
            <a:pathLst>
              <a:path w="567" h="429">
                <a:moveTo>
                  <a:pt x="559" y="0"/>
                </a:moveTo>
                <a:cubicBezTo>
                  <a:pt x="563" y="0"/>
                  <a:pt x="566" y="3"/>
                  <a:pt x="567" y="7"/>
                </a:cubicBezTo>
                <a:cubicBezTo>
                  <a:pt x="566" y="4"/>
                  <a:pt x="564" y="3"/>
                  <a:pt x="562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559" y="0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762000" y="1495425"/>
            <a:ext cx="5019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22D3EE"/>
                </a:solidFill>
                <a:latin typeface="Microsoft YaHei"/>
                <a:ea typeface="Microsoft YaHei"/>
              </a:rPr>
              <a:t>已做到的（对照成功标准）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62000" y="1924050"/>
            <a:ext cx="50196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① 472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字通知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en-US" sz="1350" b="1">
                <a:solidFill>
                  <a:srgbClr val="F0ABFC"/>
                </a:solidFill>
                <a:latin typeface="Microsoft YaHei"/>
                <a:ea typeface="Microsoft YaHei"/>
              </a:rPr>
              <a:t xml:space="preserve">9 </a:t>
            </a:r>
            <a:r>
              <a:rPr lang="zh-CN" sz="1350" b="1">
                <a:solidFill>
                  <a:srgbClr val="F0ABFC"/>
                </a:solidFill>
                <a:latin typeface="Microsoft YaHei"/>
                <a:ea typeface="Microsoft YaHei"/>
              </a:rPr>
              <a:t>条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带时间、地点、优先级的草稿，确认才入库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762000" y="2352675"/>
            <a:ext cx="50196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忘了原话也能搜到：语义相似度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51%–56%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</a:t>
            </a:r>
            <a:r>
              <a:rPr lang="en-US" sz="1350" b="1">
                <a:solidFill>
                  <a:srgbClr val="F0ABFC"/>
                </a:solidFill>
                <a:latin typeface="Microsoft YaHei"/>
                <a:ea typeface="Microsoft YaHei"/>
              </a:rPr>
              <a:t>60/75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条订阅正文进索引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762000" y="3086100"/>
            <a:ext cx="50196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问一句有答案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en-US" sz="1350" b="1">
                <a:solidFill>
                  <a:srgbClr val="F0ABFC"/>
                </a:solidFill>
                <a:latin typeface="Microsoft YaHei"/>
                <a:ea typeface="Microsoft YaHei"/>
              </a:rPr>
              <a:t>[1][2]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引用，点开就是原文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762000" y="3514725"/>
            <a:ext cx="50196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断网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Key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时核心功能仍可用，且</a:t>
            </a: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说明清楚降级到了哪一步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762000" y="3943350"/>
            <a:ext cx="50196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工程闭环：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66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项自检、抓取日志、能力体检、诊断包（不含用户数据）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6219825" y="1304925"/>
            <a:ext cx="5400675" cy="4086225"/>
          </a:xfrm>
          <a:prstGeom prst="roundRect">
            <a:avLst>
              <a:gd name="adj" fmla="val 1865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6219825" y="1304925"/>
            <a:ext cx="5400675" cy="4086225"/>
          </a:xfrm>
          <a:custGeom>
            <a:pathLst>
              <a:path w="567" h="429">
                <a:moveTo>
                  <a:pt x="559" y="0"/>
                </a:moveTo>
                <a:cubicBezTo>
                  <a:pt x="563" y="0"/>
                  <a:pt x="566" y="3"/>
                  <a:pt x="567" y="7"/>
                </a:cubicBezTo>
                <a:cubicBezTo>
                  <a:pt x="566" y="4"/>
                  <a:pt x="564" y="3"/>
                  <a:pt x="562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559" y="0"/>
                </a:lnTo>
                <a:close/>
              </a:path>
            </a:pathLst>
          </a:custGeom>
          <a:solidFill>
            <a:srgbClr val="F0ABFC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410325" y="1495425"/>
            <a:ext cx="5019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0ABFC"/>
                </a:solidFill>
                <a:latin typeface="Microsoft YaHei"/>
                <a:ea typeface="Microsoft YaHei"/>
              </a:rPr>
              <a:t>还没解决的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410325" y="1924050"/>
            <a:ext cx="50196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语义索引仍是串行构建，上千条要数分钟（已用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可选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上限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缓解，未根治）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6410325" y="2657475"/>
            <a:ext cx="50196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向量检索线性扫描，没有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HNSW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；当前量级无感，上万条会成瓶颈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410325" y="3390900"/>
            <a:ext cx="50196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手机上没有语义搜索（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25MB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模型不合适），信息流也读不到本机服务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6410325" y="4124325"/>
            <a:ext cx="50196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13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条抓取失败是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robots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不允许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该不该放行得用户自己决定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410325" y="4857750"/>
            <a:ext cx="50196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同步是全量快照，不是增量；也没有公开的自动化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Benchmark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571500" y="5514975"/>
            <a:ext cx="11049000" cy="923925"/>
          </a:xfrm>
          <a:prstGeom prst="roundRect">
            <a:avLst>
              <a:gd name="adj" fmla="val 8247"/>
            </a:avLst>
          </a:prstGeom>
          <a:gradFill>
            <a:gsLst>
              <a:gs pos="0">
                <a:srgbClr val="4F46E5"/>
              </a:gs>
              <a:gs pos="100000">
                <a:srgbClr val="151B33"/>
              </a:gs>
            </a:gsLst>
            <a:lin ang="1800000" scaled="1"/>
          </a:gradFill>
          <a:ln/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23900" y="5667375"/>
            <a:ext cx="107442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F0ABFC"/>
                </a:solidFill>
                <a:latin typeface="Microsoft YaHei"/>
                <a:ea typeface="Microsoft YaHei"/>
              </a:rPr>
              <a:t>下一步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：批量推理与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Web Worker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（提速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不卡界面）→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HNSW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索引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问答流式输出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增量同步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补一份可复现的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Benchmark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脚本。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方向很明确：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**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先把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本地这一侧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做快，再决定要不要把重活搬到云上。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**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78" name="" descr="&lt;Slide style={{ background: '#0B1020', padding: 60, justifyContent: 'center' }}&gt;&#10;    &lt;Box style={{ position: 'absolute', top: 0, left: 0, width: 640, height: 720, background: 'linear-gradient(135deg, #4F46E5 0%, transparent 65%)', opacity: 0.22 }} /&gt;&#10;    &lt;Box style={{ position: 'absolute', right: 120, bottom: 120, width: 200, height: 200, borderRadius: 100, background: 'linear-gradient(135deg, #22D3EE 0%, #F0ABFC 100%)', opacity: 0.16 }} /&gt;&#10;&#10;    &lt;Box style={{ position: 'relative', zIndex: 2 }}&gt;&#10;        &lt;Text style={{ fontSize: 20, color: '#22D3EE', letterSpacing: 2 }}&gt;个人工作台 · Personal Workspace&lt;/Text&gt;&#10;        &lt;Box style={{ width: 120, height: 1, background: '#334155', marginTop: 20 }} /&gt;&#10;        &lt;Text style={{ fontSize: 52, fontWeight: 'bold', color: '#FFFFFF', lineHeight: 1.35, marginTop: 28 }}&gt;&#10;            让 AI 在你的数据上干活，&#10;            &lt;br /&gt;&#10;            而不是把你的数据交给 AI&#10;        &lt;/Text&gt;&#10;        &lt;Text style={{ fontSize: 22, color: '#94A3B8', lineHeight: 1.6, marginTop: 26 }}&gt;&#10;            理解（一段话变日程）· 找到（三种检索，连订阅正文）· 聚合（定时抓取自动补正文）&#10;            &lt;br /&gt;&#10;            每一步都能断开云端，也都能被你核对。&#10;        &lt;/Text&gt;&#10;&#10;        &lt;Box style={{ flexDirection: 'row', alignItems: 'center', gap: 20, marginTop: 44 }}&gt;&#10;            &lt;Text style={{ fontSize: 16, color: '#64748B' }}&gt;github.com/wzsl07/personal-workspace&lt;/Text&gt;&#10;            &lt;Box style={{ width: 1, height: 16, background: '#334155' }} /&gt;&#10;            &lt;Text style={{ fontSize: 16, color: '#64748B' }}&gt;MIT · v0.2.0&lt;/Text&gt;&#10;            &lt;Box style={{ width: 1, height: 16, background: '#334155' }} /&gt;&#10;            &lt;Text style={{ fontSize: 16, color: '#64748B' }}&gt;谢谢，请指正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180" name=""/>
          <p:cNvSpPr/>
          <p:nvPr/>
        </p:nvSpPr>
        <p:spPr>
          <a:xfrm rot="0" flipH="0" flipV="0">
            <a:off x="0" y="0"/>
            <a:ext cx="6096000" cy="6858000"/>
          </a:xfrm>
          <a:prstGeom prst="rect">
            <a:avLst/>
          </a:prstGeom>
          <a:gradFill>
            <a:gsLst>
              <a:gs pos="0">
                <a:srgbClr val="4F46E5">
                  <a:alpha val="22000"/>
                </a:srgbClr>
              </a:gs>
              <a:gs pos="65000">
                <a:srgbClr val="FFFFFF">
                  <a:alpha val="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81" name=""/>
          <p:cNvSpPr/>
          <p:nvPr/>
        </p:nvSpPr>
        <p:spPr>
          <a:xfrm rot="0" flipH="0" flipV="0">
            <a:off x="9144000" y="3810000"/>
            <a:ext cx="1905000" cy="1905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2D3EE">
                  <a:alpha val="16000"/>
                </a:srgbClr>
              </a:gs>
              <a:gs pos="100000">
                <a:srgbClr val="F0ABFC">
                  <a:alpha val="16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571500" y="1447800"/>
            <a:ext cx="11049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22D3EE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500" spc="150">
                <a:solidFill>
                  <a:srgbClr val="22D3EE"/>
                </a:solidFill>
                <a:latin typeface="Microsoft YaHei"/>
                <a:ea typeface="Microsoft YaHei"/>
              </a:rPr>
              <a:t xml:space="preserve"> · Personal Workspace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571500" y="1866900"/>
            <a:ext cx="1143000" cy="952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571500" y="2143125"/>
            <a:ext cx="11049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FFFFF"/>
                </a:solidFill>
                <a:latin typeface="Microsoft YaHei"/>
                <a:ea typeface="Microsoft YaHei"/>
              </a:rPr>
              <a:t>让</a:t>
            </a:r>
            <a:r>
              <a:rPr lang="en-US" sz="39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3900" b="1">
                <a:solidFill>
                  <a:srgbClr val="FFFFFF"/>
                </a:solidFill>
                <a:latin typeface="Microsoft YaHei"/>
                <a:ea typeface="Microsoft YaHei"/>
              </a:rPr>
              <a:t>在你的数据上干活，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FFFFF"/>
                </a:solidFill>
                <a:latin typeface="Microsoft YaHei"/>
                <a:ea typeface="Microsoft YaHei"/>
              </a:rPr>
              <a:t>而不是把你的数据交给</a:t>
            </a:r>
            <a:r>
              <a:rPr lang="en-US" sz="39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AI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71500" y="4000500"/>
            <a:ext cx="11049000" cy="8096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理解（一段话变日程）·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找到（三种检索，连订阅正文）·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聚合（定时抓取自动补正文）</a:t>
            </a:r>
            <a:endParaRPr/>
          </a:p>
          <a:p>
            <a:pPr>
              <a:lnSpc>
                <a:spcPct val="16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每一步都能断开云端，也都能被你核对。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71500" y="5229225"/>
            <a:ext cx="2914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github.com/wzsl07/personal-workspace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3676650" y="5248275"/>
            <a:ext cx="9525" cy="152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76675" y="5229225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MIT · v0.2.0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4905375" y="5248275"/>
            <a:ext cx="9525" cy="152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5105400" y="5229225"/>
            <a:ext cx="914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谢谢，请指正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2026-11-01T08:50:45Z</dcterms:created>
  <dcterms:modified xsi:type="dcterms:W3CDTF">2026-11-01T08:50:45Z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{"AIGC":{"Label":"1","ContentProducer":"00119111010856365494821B355","ProduceID":"01a1946f6bbb71cead984b1b36ed7641","ReservedCode1":"","ContentPropagator":"00119111010856365494821B355","PropagateID":"01a1946f6bbb71cead984b1b36ed7641","ReservedCode2":""}}</vt:lpwstr>
  </property>
</Properties>
</file>